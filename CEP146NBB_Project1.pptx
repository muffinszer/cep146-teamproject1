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org&amp;utm_campaign=index&amp;utm_content=original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5" r:id="rId10"/>
    <p:sldId id="263" r:id="rId11"/>
  </p:sldIdLst>
  <p:sldSz cx="18288000" cy="10287000"/>
  <p:notesSz cx="6858000" cy="9144000"/>
  <p:embeddedFontLst>
    <p:embeddedFont>
      <p:font typeface="Alegreya Sans SC" pitchFamily="2" charset="0"/>
      <p:regular r:id="rId13"/>
    </p:embeddedFont>
    <p:embeddedFont>
      <p:font typeface="Alegreya Sans SC Bold" pitchFamily="2" charset="0"/>
      <p:regular r:id="rId14"/>
      <p:bold r:id="rId15"/>
    </p:embeddedFont>
    <p:embeddedFont>
      <p:font typeface="Alegreya Sans SC Medium" pitchFamily="2" charset="0"/>
      <p:regular r:id="rId16"/>
    </p:embeddedFont>
    <p:embeddedFont>
      <p:font typeface="Candara" panose="020E050203030302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7" autoAdjust="0"/>
    <p:restoredTop sz="96266" autoAdjust="0"/>
  </p:normalViewPr>
  <p:slideViewPr>
    <p:cSldViewPr>
      <p:cViewPr varScale="1">
        <p:scale>
          <a:sx n="80" d="100"/>
          <a:sy n="80" d="100"/>
        </p:scale>
        <p:origin x="408" y="2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BC2B38-408A-8647-991A-B19F79294DCD}" type="datetimeFigureOut">
              <a:rPr lang="en-KR" smtClean="0"/>
              <a:t>10/18/26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023C59-4258-E346-BE1D-19B0B04B97D9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9863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23C59-4258-E346-BE1D-19B0B04B97D9}" type="slidenum">
              <a:rPr lang="en-KR" smtClean="0"/>
              <a:t>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314350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23C59-4258-E346-BE1D-19B0B04B97D9}" type="slidenum">
              <a:rPr lang="en-KR" smtClean="0"/>
              <a:t>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25847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23C59-4258-E346-BE1D-19B0B04B97D9}" type="slidenum">
              <a:rPr lang="en-KR" smtClean="0"/>
              <a:t>5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75139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23C59-4258-E346-BE1D-19B0B04B97D9}" type="slidenum">
              <a:rPr lang="en-KR" smtClean="0"/>
              <a:t>6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15323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23C59-4258-E346-BE1D-19B0B04B97D9}" type="slidenum">
              <a:rPr lang="en-KR" smtClean="0"/>
              <a:t>7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55316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23C59-4258-E346-BE1D-19B0B04B97D9}" type="slidenum">
              <a:rPr lang="en-KR" smtClean="0"/>
              <a:t>10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83334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org&amp;utm_campaign=index&amp;utm_content=origina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sa.com/resources/blog/zero-trust/setting-the-record-straight-on-quantum-computing-and-rsa-encryption/" TargetMode="External"/><Relationship Id="rId3" Type="http://schemas.openxmlformats.org/officeDocument/2006/relationships/image" Target="../media/image3.svg"/><Relationship Id="rId7" Type="http://schemas.openxmlformats.org/officeDocument/2006/relationships/hyperlink" Target="https://di-mgt.com.au/rsa_alg.html" TargetMode="Externa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geeksforgeeks.org/computer-networks/rsa-algorithm-cryptography/" TargetMode="External"/><Relationship Id="rId5" Type="http://schemas.openxmlformats.org/officeDocument/2006/relationships/hyperlink" Target="https://www.digitalocean.com/community/tutorials/understanding-the-ssh-encryption-and-connection-process" TargetMode="External"/><Relationship Id="rId10" Type="http://schemas.openxmlformats.org/officeDocument/2006/relationships/hyperlink" Target="https://pswordpress-production.s3.amazonaws.com/2022/04/Quantum-Computing-and-Cybersecurity_-Preparing-for-Post-Quantum-Cryptography-PreScouter.pdf" TargetMode="External"/><Relationship Id="rId4" Type="http://schemas.openxmlformats.org/officeDocument/2006/relationships/hyperlink" Target="https://sedici.unlp.edu.ar/handle/10915/119581" TargetMode="External"/><Relationship Id="rId9" Type="http://schemas.openxmlformats.org/officeDocument/2006/relationships/hyperlink" Target="https://doi.org/10.6028/NIST.IR.8547.ipd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ms-cc.org/wp-content/uploads/2024/05/Transitioning-to-PQC.pdf" TargetMode="External"/><Relationship Id="rId3" Type="http://schemas.openxmlformats.org/officeDocument/2006/relationships/image" Target="../media/image2.svg"/><Relationship Id="rId7" Type="http://schemas.openxmlformats.org/officeDocument/2006/relationships/hyperlink" Target="https://www.simplilearn.com/tutorials/cryptography-tutorial/digital-signature-algorith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ommunity.rsa.com/s/article/RSA-cryptography-and-NIST-guidance" TargetMode="External"/><Relationship Id="rId5" Type="http://schemas.openxmlformats.org/officeDocument/2006/relationships/hyperlink" Target="https://doi.org/10.17487/RFC8446" TargetMode="External"/><Relationship Id="rId4" Type="http://schemas.openxmlformats.org/officeDocument/2006/relationships/image" Target="../media/image3.svg"/><Relationship Id="rId9" Type="http://schemas.openxmlformats.org/officeDocument/2006/relationships/hyperlink" Target="https://securew2.com/blog/what-is-rsa-asymmetric-encryp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3" name="Freeform 3"/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14660974" y="0"/>
            <a:ext cx="3657600" cy="36576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>
            <a:off x="57095" y="7366014"/>
            <a:ext cx="2693378" cy="2693378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7" name="TextBox 7"/>
          <p:cNvSpPr txBox="1"/>
          <p:nvPr/>
        </p:nvSpPr>
        <p:spPr>
          <a:xfrm>
            <a:off x="2008186" y="2359052"/>
            <a:ext cx="9498014" cy="41293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050"/>
              </a:lnSpc>
            </a:pPr>
            <a:r>
              <a:rPr lang="en-US" sz="15000" b="1" dirty="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RSA </a:t>
            </a:r>
          </a:p>
          <a:p>
            <a:pPr algn="l">
              <a:lnSpc>
                <a:spcPts val="16050"/>
              </a:lnSpc>
            </a:pPr>
            <a:r>
              <a:rPr lang="en-US" sz="15000" b="1" dirty="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Encryption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98219" y="7674134"/>
            <a:ext cx="13440636" cy="1994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3240" dirty="0">
                <a:solidFill>
                  <a:srgbClr val="000000"/>
                </a:solidFill>
                <a:latin typeface="Candara" panose="020E0502030303020204" pitchFamily="34" charset="0"/>
                <a:ea typeface="Aileron Bold"/>
                <a:cs typeface="Aileron Bold"/>
                <a:sym typeface="Aileron Bold"/>
              </a:rPr>
              <a:t>Adrian Stanciu - </a:t>
            </a:r>
            <a:r>
              <a:rPr lang="en-CA" sz="3240" dirty="0">
                <a:latin typeface="Candara" panose="020E0502030303020204" pitchFamily="34" charset="0"/>
              </a:rPr>
              <a:t>Seneca Student ID: 111272266</a:t>
            </a:r>
          </a:p>
          <a:p>
            <a:pPr>
              <a:spcBef>
                <a:spcPct val="0"/>
              </a:spcBef>
            </a:pPr>
            <a:r>
              <a:rPr lang="en-US" sz="3240" dirty="0">
                <a:solidFill>
                  <a:srgbClr val="000000"/>
                </a:solidFill>
                <a:latin typeface="Candara" panose="020E0502030303020204" pitchFamily="34" charset="0"/>
                <a:ea typeface="Aileron Bold"/>
                <a:cs typeface="Aileron Bold"/>
                <a:sym typeface="Aileron Bold"/>
              </a:rPr>
              <a:t>Ignacio Morales Hermosilla - </a:t>
            </a:r>
            <a:r>
              <a:rPr lang="en-CA" sz="3240" dirty="0">
                <a:latin typeface="Candara" panose="020E0502030303020204" pitchFamily="34" charset="0"/>
              </a:rPr>
              <a:t>Seneca Student ID</a:t>
            </a:r>
            <a:r>
              <a:rPr lang="en-CA" sz="3240">
                <a:latin typeface="Candara" panose="020E0502030303020204" pitchFamily="34" charset="0"/>
              </a:rPr>
              <a:t>: 122079262</a:t>
            </a:r>
            <a:endParaRPr lang="en-US" sz="3240" dirty="0">
              <a:solidFill>
                <a:srgbClr val="000000"/>
              </a:solidFill>
              <a:latin typeface="Candara" panose="020E0502030303020204" pitchFamily="34" charset="0"/>
              <a:ea typeface="Aileron Bold"/>
              <a:cs typeface="Aileron Bold"/>
              <a:sym typeface="Aileron Bold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3240" dirty="0">
                <a:solidFill>
                  <a:srgbClr val="000000"/>
                </a:solidFill>
                <a:latin typeface="Candara" panose="020E0502030303020204" pitchFamily="34" charset="0"/>
                <a:ea typeface="Aileron Bold"/>
                <a:cs typeface="Aileron Bold"/>
                <a:sym typeface="Aileron Bold"/>
              </a:rPr>
              <a:t>Muffin Aybar - </a:t>
            </a:r>
            <a:r>
              <a:rPr lang="en-CA" sz="3240" dirty="0">
                <a:latin typeface="Candara" panose="020E0502030303020204" pitchFamily="34" charset="0"/>
              </a:rPr>
              <a:t>Seneca Student ID: 107362253</a:t>
            </a:r>
            <a:endParaRPr lang="en-US" sz="3240" dirty="0">
              <a:solidFill>
                <a:srgbClr val="000000"/>
              </a:solidFill>
              <a:latin typeface="Candara" panose="020E0502030303020204" pitchFamily="34" charset="0"/>
              <a:ea typeface="Aileron Bold"/>
              <a:cs typeface="Aileron Bold"/>
              <a:sym typeface="Aileron Bold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3240" dirty="0">
                <a:solidFill>
                  <a:srgbClr val="000000"/>
                </a:solidFill>
                <a:latin typeface="Candara" panose="020E0502030303020204" pitchFamily="34" charset="0"/>
                <a:ea typeface="Aileron Bold"/>
                <a:cs typeface="Aileron Bold"/>
                <a:sym typeface="Aileron Bold"/>
              </a:rPr>
              <a:t>Summer Chang - </a:t>
            </a:r>
            <a:r>
              <a:rPr lang="en-CA" sz="3240" dirty="0">
                <a:latin typeface="Candara" panose="020E0502030303020204" pitchFamily="34" charset="0"/>
              </a:rPr>
              <a:t>Seneca Student ID: 148482243</a:t>
            </a:r>
            <a:endParaRPr lang="en-US" sz="3240" dirty="0">
              <a:solidFill>
                <a:srgbClr val="000000"/>
              </a:solidFill>
              <a:latin typeface="Candara" panose="020E0502030303020204" pitchFamily="34" charset="0"/>
              <a:ea typeface="Aileron Bold"/>
              <a:cs typeface="Aileron Bold"/>
              <a:sym typeface="Aileron 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0B0D66-EEEB-3EF4-58A4-DBD95C30DB6C}"/>
              </a:ext>
            </a:extLst>
          </p:cNvPr>
          <p:cNvSpPr txBox="1"/>
          <p:nvPr/>
        </p:nvSpPr>
        <p:spPr>
          <a:xfrm>
            <a:off x="1403784" y="6566010"/>
            <a:ext cx="4140184" cy="682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992"/>
              </a:lnSpc>
              <a:spcBef>
                <a:spcPct val="0"/>
              </a:spcBef>
            </a:pPr>
            <a:r>
              <a:rPr lang="en-US" sz="3241" dirty="0">
                <a:solidFill>
                  <a:srgbClr val="000000"/>
                </a:solidFill>
                <a:latin typeface="Candara" panose="020E0502030303020204" pitchFamily="34" charset="0"/>
                <a:ea typeface="Aileron Bold"/>
                <a:cs typeface="Aileron Bold"/>
                <a:sym typeface="Aileron Bold"/>
              </a:rPr>
              <a:t>CEP146 NBB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1"/>
            <a:ext cx="10287001" cy="18288002"/>
          </a:xfrm>
          <a:custGeom>
            <a:avLst/>
            <a:gdLst/>
            <a:ahLst/>
            <a:cxnLst/>
            <a:rect l="l" t="t" r="r" b="b"/>
            <a:pathLst>
              <a:path w="11718479" h="20832852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3" name="Freeform 3"/>
          <p:cNvSpPr/>
          <p:nvPr/>
        </p:nvSpPr>
        <p:spPr>
          <a:xfrm flipV="1">
            <a:off x="519025" y="685100"/>
            <a:ext cx="2071075" cy="2071075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 flipH="1">
            <a:off x="15486600" y="7654212"/>
            <a:ext cx="2071075" cy="2071075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>
            <a:off x="57095" y="7695024"/>
            <a:ext cx="2364367" cy="2364367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7" name="Group 7"/>
          <p:cNvGrpSpPr/>
          <p:nvPr/>
        </p:nvGrpSpPr>
        <p:grpSpPr>
          <a:xfrm>
            <a:off x="271890" y="3694533"/>
            <a:ext cx="8457250" cy="5868567"/>
            <a:chOff x="0" y="0"/>
            <a:chExt cx="2471118" cy="16751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71119" cy="1675100"/>
            </a:xfrm>
            <a:custGeom>
              <a:avLst/>
              <a:gdLst/>
              <a:ahLst/>
              <a:cxnLst/>
              <a:rect l="l" t="t" r="r" b="b"/>
              <a:pathLst>
                <a:path w="2471119" h="1675100">
                  <a:moveTo>
                    <a:pt x="42082" y="0"/>
                  </a:moveTo>
                  <a:lnTo>
                    <a:pt x="2429036" y="0"/>
                  </a:lnTo>
                  <a:cubicBezTo>
                    <a:pt x="2440197" y="0"/>
                    <a:pt x="2450901" y="4434"/>
                    <a:pt x="2458793" y="12326"/>
                  </a:cubicBezTo>
                  <a:cubicBezTo>
                    <a:pt x="2466685" y="20218"/>
                    <a:pt x="2471119" y="30921"/>
                    <a:pt x="2471119" y="42082"/>
                  </a:cubicBezTo>
                  <a:lnTo>
                    <a:pt x="2471119" y="1633018"/>
                  </a:lnTo>
                  <a:cubicBezTo>
                    <a:pt x="2471119" y="1656260"/>
                    <a:pt x="2452278" y="1675100"/>
                    <a:pt x="2429036" y="1675100"/>
                  </a:cubicBezTo>
                  <a:lnTo>
                    <a:pt x="42082" y="1675100"/>
                  </a:lnTo>
                  <a:cubicBezTo>
                    <a:pt x="30921" y="1675100"/>
                    <a:pt x="20218" y="1670667"/>
                    <a:pt x="12326" y="1662775"/>
                  </a:cubicBezTo>
                  <a:cubicBezTo>
                    <a:pt x="4434" y="1654883"/>
                    <a:pt x="0" y="1644179"/>
                    <a:pt x="0" y="1633018"/>
                  </a:cubicBezTo>
                  <a:lnTo>
                    <a:pt x="0" y="42082"/>
                  </a:lnTo>
                  <a:cubicBezTo>
                    <a:pt x="0" y="30921"/>
                    <a:pt x="4434" y="20218"/>
                    <a:pt x="12326" y="12326"/>
                  </a:cubicBezTo>
                  <a:cubicBezTo>
                    <a:pt x="20218" y="4434"/>
                    <a:pt x="30921" y="0"/>
                    <a:pt x="42082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471118" cy="1713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554562" y="1288581"/>
            <a:ext cx="12195985" cy="2205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 b="1" dirty="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How RSA Encryption Works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1898" y="3658410"/>
            <a:ext cx="7967548" cy="5805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RSA is an asymmetric encryption algorithm.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Uses two mathematically linked keys: public and private.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The public key can be shared openly.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The private key must remain secret.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The sender encrypts data using the recipient's public key.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The recipient decrypts data using their private key.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Both parties can use their own key pairs for two-way communication.</a:t>
            </a:r>
          </a:p>
        </p:txBody>
      </p:sp>
      <p:pic>
        <p:nvPicPr>
          <p:cNvPr id="15" name="Picture 14" descr="File:Symmetric encryption.png - Wikimedia Commons">
            <a:extLst>
              <a:ext uri="{FF2B5EF4-FFF2-40B4-BE49-F238E27FC236}">
                <a16:creationId xmlns:a16="http://schemas.microsoft.com/office/drawing/2014/main" id="{2EC436D7-0628-458B-1904-687A826083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0888" y="3658410"/>
            <a:ext cx="9225221" cy="5904690"/>
          </a:xfrm>
          <a:prstGeom prst="rect">
            <a:avLst/>
          </a:prstGeom>
          <a:effectLst>
            <a:outerShdw blurRad="254000" dist="762000" dir="24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10" name="TextBox 20">
            <a:extLst>
              <a:ext uri="{FF2B5EF4-FFF2-40B4-BE49-F238E27FC236}">
                <a16:creationId xmlns:a16="http://schemas.microsoft.com/office/drawing/2014/main" id="{3DBD1AE3-FCC3-5357-D315-F53CBB33C18B}"/>
              </a:ext>
            </a:extLst>
          </p:cNvPr>
          <p:cNvSpPr txBox="1"/>
          <p:nvPr/>
        </p:nvSpPr>
        <p:spPr>
          <a:xfrm>
            <a:off x="12115800" y="9650247"/>
            <a:ext cx="5791201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59080" lvl="1" algn="r">
              <a:lnSpc>
                <a:spcPct val="100000"/>
              </a:lnSpc>
              <a:spcBef>
                <a:spcPct val="0"/>
              </a:spcBef>
            </a:pPr>
            <a:r>
              <a:rPr lang="en-US" sz="2400" dirty="0"/>
              <a:t>(Castelli Lluch &amp; Tallarico, 2019)</a:t>
            </a: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14" name="TextBox 20">
            <a:extLst>
              <a:ext uri="{FF2B5EF4-FFF2-40B4-BE49-F238E27FC236}">
                <a16:creationId xmlns:a16="http://schemas.microsoft.com/office/drawing/2014/main" id="{75CC5A6D-CD3A-4604-0304-A9E55AB691E0}"/>
              </a:ext>
            </a:extLst>
          </p:cNvPr>
          <p:cNvSpPr txBox="1"/>
          <p:nvPr/>
        </p:nvSpPr>
        <p:spPr>
          <a:xfrm>
            <a:off x="3894623" y="9598266"/>
            <a:ext cx="4834517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59080" lvl="1">
              <a:lnSpc>
                <a:spcPct val="100000"/>
              </a:lnSpc>
              <a:spcBef>
                <a:spcPct val="0"/>
              </a:spcBef>
            </a:pPr>
            <a:r>
              <a:rPr lang="en-US" sz="2400" dirty="0"/>
              <a:t>(</a:t>
            </a:r>
            <a:r>
              <a:rPr lang="en-US" sz="2400" dirty="0" err="1"/>
              <a:t>GeeksforGeeks</a:t>
            </a:r>
            <a:r>
              <a:rPr lang="en-US" sz="2400" dirty="0"/>
              <a:t>, 2025; Ireland, n.d.)</a:t>
            </a: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993F4CDB-B733-1DDC-1513-7FA5C69F7C66}"/>
              </a:ext>
            </a:extLst>
          </p:cNvPr>
          <p:cNvSpPr/>
          <p:nvPr/>
        </p:nvSpPr>
        <p:spPr>
          <a:xfrm>
            <a:off x="14660974" y="0"/>
            <a:ext cx="3657600" cy="36576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EF9FA-5DEC-3D84-6AF4-6378E7F05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7C607F6-931B-4F83-1AAD-4D9E900AF928}"/>
              </a:ext>
            </a:extLst>
          </p:cNvPr>
          <p:cNvSpPr/>
          <p:nvPr/>
        </p:nvSpPr>
        <p:spPr>
          <a:xfrm rot="-5400000">
            <a:off x="3958530" y="-3958531"/>
            <a:ext cx="10370942" cy="18288002"/>
          </a:xfrm>
          <a:custGeom>
            <a:avLst/>
            <a:gdLst/>
            <a:ahLst/>
            <a:cxnLst/>
            <a:rect l="l" t="t" r="r" b="b"/>
            <a:pathLst>
              <a:path w="11718479" h="20832852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BB91FF3-1A9F-3424-8AFD-6525743E80AA}"/>
              </a:ext>
            </a:extLst>
          </p:cNvPr>
          <p:cNvSpPr/>
          <p:nvPr/>
        </p:nvSpPr>
        <p:spPr>
          <a:xfrm flipV="1">
            <a:off x="519025" y="668200"/>
            <a:ext cx="2071075" cy="2087975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CD3F829-4632-13EE-A775-73F958E4E303}"/>
              </a:ext>
            </a:extLst>
          </p:cNvPr>
          <p:cNvSpPr/>
          <p:nvPr/>
        </p:nvSpPr>
        <p:spPr>
          <a:xfrm flipH="1">
            <a:off x="15486600" y="7637312"/>
            <a:ext cx="2071075" cy="2087975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65EF9A0-40A3-EED0-1F32-009AE1855E5C}"/>
              </a:ext>
            </a:extLst>
          </p:cNvPr>
          <p:cNvSpPr/>
          <p:nvPr/>
        </p:nvSpPr>
        <p:spPr>
          <a:xfrm>
            <a:off x="57095" y="7675732"/>
            <a:ext cx="2364367" cy="2383660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B349583-F6FC-C6CE-BEBE-AF80E41F0E04}"/>
              </a:ext>
            </a:extLst>
          </p:cNvPr>
          <p:cNvSpPr txBox="1"/>
          <p:nvPr/>
        </p:nvSpPr>
        <p:spPr>
          <a:xfrm>
            <a:off x="2163310" y="1236691"/>
            <a:ext cx="11357750" cy="2205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 b="1" dirty="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How They're Used and Made</a:t>
            </a:r>
          </a:p>
        </p:txBody>
      </p:sp>
      <p:pic>
        <p:nvPicPr>
          <p:cNvPr id="14" name="Picture 13" descr="RSA algorithm structure | Download Scientific Diagram">
            <a:extLst>
              <a:ext uri="{FF2B5EF4-FFF2-40B4-BE49-F238E27FC236}">
                <a16:creationId xmlns:a16="http://schemas.microsoft.com/office/drawing/2014/main" id="{0FEBD21A-36A9-22E1-023F-65F132B73E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0100" y="3402318"/>
            <a:ext cx="11072635" cy="6643766"/>
          </a:xfrm>
          <a:prstGeom prst="rect">
            <a:avLst/>
          </a:prstGeom>
          <a:effectLst>
            <a:outerShdw blurRad="254000" dist="762000" dir="24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9" name="TextBox 20">
            <a:extLst>
              <a:ext uri="{FF2B5EF4-FFF2-40B4-BE49-F238E27FC236}">
                <a16:creationId xmlns:a16="http://schemas.microsoft.com/office/drawing/2014/main" id="{B651EA26-D3E3-8F8D-B9EE-871E662F2837}"/>
              </a:ext>
            </a:extLst>
          </p:cNvPr>
          <p:cNvSpPr txBox="1"/>
          <p:nvPr/>
        </p:nvSpPr>
        <p:spPr>
          <a:xfrm>
            <a:off x="12181751" y="9863448"/>
            <a:ext cx="534384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59080" lvl="1" algn="r">
              <a:lnSpc>
                <a:spcPct val="100000"/>
              </a:lnSpc>
              <a:spcBef>
                <a:spcPct val="0"/>
              </a:spcBef>
            </a:pPr>
            <a:r>
              <a:rPr lang="en-US" sz="2400" dirty="0"/>
              <a:t>(Transitioning to PQC, 2024)</a:t>
            </a: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F5ED3CE8-0C18-0E81-119D-F1E064EA8EF3}"/>
              </a:ext>
            </a:extLst>
          </p:cNvPr>
          <p:cNvSpPr/>
          <p:nvPr/>
        </p:nvSpPr>
        <p:spPr>
          <a:xfrm>
            <a:off x="14660974" y="0"/>
            <a:ext cx="3657600" cy="36576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0332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1"/>
            <a:ext cx="10287001" cy="18288002"/>
          </a:xfrm>
          <a:custGeom>
            <a:avLst/>
            <a:gdLst/>
            <a:ahLst/>
            <a:cxnLst/>
            <a:rect l="l" t="t" r="r" b="b"/>
            <a:pathLst>
              <a:path w="11718479" h="20832852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grpSp>
        <p:nvGrpSpPr>
          <p:cNvPr id="3" name="Group 3"/>
          <p:cNvGrpSpPr/>
          <p:nvPr/>
        </p:nvGrpSpPr>
        <p:grpSpPr>
          <a:xfrm>
            <a:off x="560481" y="3259080"/>
            <a:ext cx="12559859" cy="2265420"/>
            <a:chOff x="0" y="-38100"/>
            <a:chExt cx="1723392" cy="9846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23392" cy="946571"/>
            </a:xfrm>
            <a:custGeom>
              <a:avLst/>
              <a:gdLst/>
              <a:ahLst/>
              <a:cxnLst/>
              <a:rect l="l" t="t" r="r" b="b"/>
              <a:pathLst>
                <a:path w="1723392" h="946571">
                  <a:moveTo>
                    <a:pt x="60340" y="0"/>
                  </a:moveTo>
                  <a:lnTo>
                    <a:pt x="1663051" y="0"/>
                  </a:lnTo>
                  <a:cubicBezTo>
                    <a:pt x="1679054" y="0"/>
                    <a:pt x="1694402" y="6357"/>
                    <a:pt x="1705718" y="17673"/>
                  </a:cubicBezTo>
                  <a:cubicBezTo>
                    <a:pt x="1717034" y="28989"/>
                    <a:pt x="1723392" y="44337"/>
                    <a:pt x="1723392" y="60340"/>
                  </a:cubicBezTo>
                  <a:lnTo>
                    <a:pt x="1723392" y="886230"/>
                  </a:lnTo>
                  <a:cubicBezTo>
                    <a:pt x="1723392" y="919555"/>
                    <a:pt x="1696376" y="946571"/>
                    <a:pt x="1663051" y="946571"/>
                  </a:cubicBezTo>
                  <a:lnTo>
                    <a:pt x="60340" y="946571"/>
                  </a:lnTo>
                  <a:cubicBezTo>
                    <a:pt x="44337" y="946571"/>
                    <a:pt x="28989" y="940213"/>
                    <a:pt x="17673" y="928897"/>
                  </a:cubicBezTo>
                  <a:cubicBezTo>
                    <a:pt x="6357" y="917581"/>
                    <a:pt x="0" y="902233"/>
                    <a:pt x="0" y="886230"/>
                  </a:cubicBezTo>
                  <a:lnTo>
                    <a:pt x="0" y="60340"/>
                  </a:lnTo>
                  <a:cubicBezTo>
                    <a:pt x="0" y="44337"/>
                    <a:pt x="6357" y="28989"/>
                    <a:pt x="17673" y="17673"/>
                  </a:cubicBezTo>
                  <a:cubicBezTo>
                    <a:pt x="28989" y="6357"/>
                    <a:pt x="44337" y="0"/>
                    <a:pt x="60340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23392" cy="9846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V="1">
            <a:off x="519025" y="685100"/>
            <a:ext cx="2071075" cy="2071075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7" name="Freeform 7"/>
          <p:cNvSpPr/>
          <p:nvPr/>
        </p:nvSpPr>
        <p:spPr>
          <a:xfrm flipH="1">
            <a:off x="15486600" y="7654212"/>
            <a:ext cx="2071075" cy="2071075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8" name="Group 8"/>
          <p:cNvGrpSpPr/>
          <p:nvPr/>
        </p:nvGrpSpPr>
        <p:grpSpPr>
          <a:xfrm>
            <a:off x="560482" y="6085461"/>
            <a:ext cx="6799185" cy="4087240"/>
            <a:chOff x="-545944" y="-118100"/>
            <a:chExt cx="2089938" cy="851742"/>
          </a:xfrm>
        </p:grpSpPr>
        <p:sp>
          <p:nvSpPr>
            <p:cNvPr id="9" name="Freeform 9"/>
            <p:cNvSpPr/>
            <p:nvPr/>
          </p:nvSpPr>
          <p:spPr>
            <a:xfrm>
              <a:off x="-545944" y="-118100"/>
              <a:ext cx="2089938" cy="733642"/>
            </a:xfrm>
            <a:custGeom>
              <a:avLst/>
              <a:gdLst/>
              <a:ahLst/>
              <a:cxnLst/>
              <a:rect l="l" t="t" r="r" b="b"/>
              <a:pathLst>
                <a:path w="1482540" h="733642">
                  <a:moveTo>
                    <a:pt x="70143" y="0"/>
                  </a:moveTo>
                  <a:lnTo>
                    <a:pt x="1412397" y="0"/>
                  </a:lnTo>
                  <a:cubicBezTo>
                    <a:pt x="1431000" y="0"/>
                    <a:pt x="1448841" y="7390"/>
                    <a:pt x="1461995" y="20544"/>
                  </a:cubicBezTo>
                  <a:cubicBezTo>
                    <a:pt x="1475150" y="33699"/>
                    <a:pt x="1482540" y="51540"/>
                    <a:pt x="1482540" y="70143"/>
                  </a:cubicBezTo>
                  <a:lnTo>
                    <a:pt x="1482540" y="663498"/>
                  </a:lnTo>
                  <a:cubicBezTo>
                    <a:pt x="1482540" y="702237"/>
                    <a:pt x="1451136" y="733642"/>
                    <a:pt x="1412397" y="733642"/>
                  </a:cubicBezTo>
                  <a:lnTo>
                    <a:pt x="70143" y="733642"/>
                  </a:lnTo>
                  <a:cubicBezTo>
                    <a:pt x="31404" y="733642"/>
                    <a:pt x="0" y="702237"/>
                    <a:pt x="0" y="663498"/>
                  </a:cubicBezTo>
                  <a:lnTo>
                    <a:pt x="0" y="70143"/>
                  </a:lnTo>
                  <a:cubicBezTo>
                    <a:pt x="0" y="31404"/>
                    <a:pt x="31404" y="0"/>
                    <a:pt x="70143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/>
            <a:lstStyle/>
            <a:p>
              <a:endParaRPr lang="en-CA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82540" cy="7717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383303" y="1280359"/>
            <a:ext cx="10431349" cy="11276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 b="1" dirty="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RSA Key Generation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2357" y="3862827"/>
            <a:ext cx="11447776" cy="1604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Generate two large random prime numbers: p and q. </a:t>
            </a:r>
          </a:p>
          <a:p>
            <a:pPr marL="518160" lvl="1" indent="-259080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Calculate n = p × q. </a:t>
            </a:r>
          </a:p>
          <a:p>
            <a:pPr marL="518160" lvl="1" indent="-259080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RSA keys are commonly 2048 bits.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50059" y="3484504"/>
            <a:ext cx="5278948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sz="3000" b="1" dirty="0">
                <a:solidFill>
                  <a:srgbClr val="000000"/>
                </a:solidFill>
                <a:latin typeface="Alegreya Sans SC Medium"/>
                <a:ea typeface="Alegreya Sans SC Medium"/>
                <a:cs typeface="Alegreya Sans SC Medium"/>
                <a:sym typeface="Alegreya Sans SC Medium"/>
              </a:rPr>
              <a:t>Step 1: Select Prime Numbers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2356" y="6588048"/>
            <a:ext cx="6585211" cy="28512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>
              <a:lnSpc>
                <a:spcPct val="2000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Calculate Euler's totient: </a:t>
            </a:r>
            <a:r>
              <a:rPr lang="el-GR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φ(</a:t>
            </a: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n) = (p − 1)(q − 1). </a:t>
            </a:r>
          </a:p>
          <a:p>
            <a:pPr marL="518160" lvl="1" indent="-259080">
              <a:lnSpc>
                <a:spcPct val="2000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Select public exponent e, usually 65537. </a:t>
            </a:r>
          </a:p>
          <a:p>
            <a:pPr marL="518160" lvl="1" indent="-259080">
              <a:lnSpc>
                <a:spcPct val="2000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Ensure e is coprime with </a:t>
            </a:r>
            <a:r>
              <a:rPr lang="el-GR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φ(</a:t>
            </a: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n). </a:t>
            </a:r>
          </a:p>
          <a:p>
            <a:pPr marL="518160" lvl="1" indent="-259080">
              <a:lnSpc>
                <a:spcPct val="2000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Public key: (e, n).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45809" y="6342907"/>
            <a:ext cx="5072101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sz="3000" b="1" dirty="0">
                <a:solidFill>
                  <a:srgbClr val="000000"/>
                </a:solidFill>
                <a:latin typeface="Alegreya Sans SC Medium"/>
                <a:ea typeface="Alegreya Sans SC Medium"/>
                <a:cs typeface="Alegreya Sans SC Medium"/>
                <a:sym typeface="Alegreya Sans SC Medium"/>
              </a:rPr>
              <a:t>Step 2: Generate the Public Key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117682" y="2014324"/>
            <a:ext cx="8962589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>
                <a:solidFill>
                  <a:srgbClr val="545454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Public and Private Keys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6C15EF3-6EFE-C1F9-C15D-38F80268CD8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715"/>
          <a:stretch>
            <a:fillRect/>
          </a:stretch>
        </p:blipFill>
        <p:spPr>
          <a:xfrm>
            <a:off x="13411200" y="3371921"/>
            <a:ext cx="4585942" cy="6308119"/>
          </a:xfrm>
          <a:prstGeom prst="rect">
            <a:avLst/>
          </a:prstGeom>
          <a:effectLst>
            <a:outerShdw blurRad="254000" dist="381000" dir="3000000" algn="ctr" rotWithShape="0">
              <a:srgbClr val="000000">
                <a:alpha val="43137"/>
              </a:srgbClr>
            </a:outerShdw>
          </a:effectLst>
        </p:spPr>
      </p:pic>
      <p:grpSp>
        <p:nvGrpSpPr>
          <p:cNvPr id="12" name="Group 3">
            <a:extLst>
              <a:ext uri="{FF2B5EF4-FFF2-40B4-BE49-F238E27FC236}">
                <a16:creationId xmlns:a16="http://schemas.microsoft.com/office/drawing/2014/main" id="{68866EAC-F215-65DA-4278-9C60BCAF0CF0}"/>
              </a:ext>
            </a:extLst>
          </p:cNvPr>
          <p:cNvGrpSpPr/>
          <p:nvPr/>
        </p:nvGrpSpPr>
        <p:grpSpPr>
          <a:xfrm>
            <a:off x="7598978" y="5946275"/>
            <a:ext cx="5580632" cy="3597154"/>
            <a:chOff x="-300545" y="-38100"/>
            <a:chExt cx="2023937" cy="984671"/>
          </a:xfrm>
        </p:grpSpPr>
        <p:sp>
          <p:nvSpPr>
            <p:cNvPr id="13" name="Freeform 4">
              <a:extLst>
                <a:ext uri="{FF2B5EF4-FFF2-40B4-BE49-F238E27FC236}">
                  <a16:creationId xmlns:a16="http://schemas.microsoft.com/office/drawing/2014/main" id="{EEEE7404-DDFF-4B16-4520-49C57E70F3F3}"/>
                </a:ext>
              </a:extLst>
            </p:cNvPr>
            <p:cNvSpPr/>
            <p:nvPr/>
          </p:nvSpPr>
          <p:spPr>
            <a:xfrm>
              <a:off x="-300545" y="0"/>
              <a:ext cx="2023937" cy="946571"/>
            </a:xfrm>
            <a:custGeom>
              <a:avLst/>
              <a:gdLst/>
              <a:ahLst/>
              <a:cxnLst/>
              <a:rect l="l" t="t" r="r" b="b"/>
              <a:pathLst>
                <a:path w="1723392" h="946571">
                  <a:moveTo>
                    <a:pt x="60340" y="0"/>
                  </a:moveTo>
                  <a:lnTo>
                    <a:pt x="1663051" y="0"/>
                  </a:lnTo>
                  <a:cubicBezTo>
                    <a:pt x="1679054" y="0"/>
                    <a:pt x="1694402" y="6357"/>
                    <a:pt x="1705718" y="17673"/>
                  </a:cubicBezTo>
                  <a:cubicBezTo>
                    <a:pt x="1717034" y="28989"/>
                    <a:pt x="1723392" y="44337"/>
                    <a:pt x="1723392" y="60340"/>
                  </a:cubicBezTo>
                  <a:lnTo>
                    <a:pt x="1723392" y="886230"/>
                  </a:lnTo>
                  <a:cubicBezTo>
                    <a:pt x="1723392" y="919555"/>
                    <a:pt x="1696376" y="946571"/>
                    <a:pt x="1663051" y="946571"/>
                  </a:cubicBezTo>
                  <a:lnTo>
                    <a:pt x="60340" y="946571"/>
                  </a:lnTo>
                  <a:cubicBezTo>
                    <a:pt x="44337" y="946571"/>
                    <a:pt x="28989" y="940213"/>
                    <a:pt x="17673" y="928897"/>
                  </a:cubicBezTo>
                  <a:cubicBezTo>
                    <a:pt x="6357" y="917581"/>
                    <a:pt x="0" y="902233"/>
                    <a:pt x="0" y="886230"/>
                  </a:cubicBezTo>
                  <a:lnTo>
                    <a:pt x="0" y="60340"/>
                  </a:lnTo>
                  <a:cubicBezTo>
                    <a:pt x="0" y="44337"/>
                    <a:pt x="6357" y="28989"/>
                    <a:pt x="17673" y="17673"/>
                  </a:cubicBezTo>
                  <a:cubicBezTo>
                    <a:pt x="28989" y="6357"/>
                    <a:pt x="44337" y="0"/>
                    <a:pt x="60340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/>
            <a:lstStyle/>
            <a:p>
              <a:endParaRPr lang="en-CA" dirty="0"/>
            </a:p>
          </p:txBody>
        </p:sp>
        <p:sp>
          <p:nvSpPr>
            <p:cNvPr id="14" name="TextBox 5">
              <a:extLst>
                <a:ext uri="{FF2B5EF4-FFF2-40B4-BE49-F238E27FC236}">
                  <a16:creationId xmlns:a16="http://schemas.microsoft.com/office/drawing/2014/main" id="{B3C0F820-E4EF-2FA5-0210-80C51003861E}"/>
                </a:ext>
              </a:extLst>
            </p:cNvPr>
            <p:cNvSpPr txBox="1"/>
            <p:nvPr/>
          </p:nvSpPr>
          <p:spPr>
            <a:xfrm>
              <a:off x="0" y="-38100"/>
              <a:ext cx="1723392" cy="9846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1">
            <a:extLst>
              <a:ext uri="{FF2B5EF4-FFF2-40B4-BE49-F238E27FC236}">
                <a16:creationId xmlns:a16="http://schemas.microsoft.com/office/drawing/2014/main" id="{A635CA25-8781-977F-C601-AA80CB155897}"/>
              </a:ext>
            </a:extLst>
          </p:cNvPr>
          <p:cNvSpPr txBox="1"/>
          <p:nvPr/>
        </p:nvSpPr>
        <p:spPr>
          <a:xfrm>
            <a:off x="7817800" y="6280787"/>
            <a:ext cx="5142987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sz="3000" b="1" dirty="0">
                <a:solidFill>
                  <a:srgbClr val="000000"/>
                </a:solidFill>
                <a:latin typeface="Alegreya Sans SC Medium"/>
                <a:ea typeface="Alegreya Sans SC Medium"/>
                <a:cs typeface="Alegreya Sans SC Medium"/>
                <a:sym typeface="Alegreya Sans SC Medium"/>
              </a:rPr>
              <a:t>Step 3: Generate the Private Key</a:t>
            </a:r>
          </a:p>
        </p:txBody>
      </p:sp>
      <p:sp>
        <p:nvSpPr>
          <p:cNvPr id="32" name="TextBox 20">
            <a:extLst>
              <a:ext uri="{FF2B5EF4-FFF2-40B4-BE49-F238E27FC236}">
                <a16:creationId xmlns:a16="http://schemas.microsoft.com/office/drawing/2014/main" id="{5F380679-F7DE-BF14-7874-11785F7AAD5F}"/>
              </a:ext>
            </a:extLst>
          </p:cNvPr>
          <p:cNvSpPr txBox="1"/>
          <p:nvPr/>
        </p:nvSpPr>
        <p:spPr>
          <a:xfrm>
            <a:off x="8136815" y="6478912"/>
            <a:ext cx="4436057" cy="28512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>
              <a:lnSpc>
                <a:spcPct val="2000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Calculate d as the modular inverse of e modulo </a:t>
            </a:r>
            <a:r>
              <a:rPr lang="el-GR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φ(</a:t>
            </a: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n). </a:t>
            </a:r>
          </a:p>
          <a:p>
            <a:pPr marL="518160" lvl="1" indent="-259080">
              <a:lnSpc>
                <a:spcPct val="2000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Private key, in simplified mathematical notation: (d, n).</a:t>
            </a:r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A68CF381-B1AE-C849-91E7-85B6F10B603C}"/>
              </a:ext>
            </a:extLst>
          </p:cNvPr>
          <p:cNvSpPr/>
          <p:nvPr/>
        </p:nvSpPr>
        <p:spPr>
          <a:xfrm>
            <a:off x="14660974" y="0"/>
            <a:ext cx="3657600" cy="36576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6" name="TextBox 20">
            <a:extLst>
              <a:ext uri="{FF2B5EF4-FFF2-40B4-BE49-F238E27FC236}">
                <a16:creationId xmlns:a16="http://schemas.microsoft.com/office/drawing/2014/main" id="{65FEE594-4681-AFB5-004A-0AFFB4C9B2B6}"/>
              </a:ext>
            </a:extLst>
          </p:cNvPr>
          <p:cNvSpPr txBox="1"/>
          <p:nvPr/>
        </p:nvSpPr>
        <p:spPr>
          <a:xfrm>
            <a:off x="11128263" y="9776231"/>
            <a:ext cx="6945728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59080" lvl="1" algn="r">
              <a:lnSpc>
                <a:spcPct val="100000"/>
              </a:lnSpc>
              <a:spcBef>
                <a:spcPct val="0"/>
              </a:spcBef>
            </a:pPr>
            <a:r>
              <a:rPr lang="en-US" sz="2400" dirty="0"/>
              <a:t>Image generated using OpenAI's ChatGPT (2026)</a:t>
            </a: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17" name="TextBox 20">
            <a:extLst>
              <a:ext uri="{FF2B5EF4-FFF2-40B4-BE49-F238E27FC236}">
                <a16:creationId xmlns:a16="http://schemas.microsoft.com/office/drawing/2014/main" id="{1726AC43-1B4C-283D-4517-72698456DDED}"/>
              </a:ext>
            </a:extLst>
          </p:cNvPr>
          <p:cNvSpPr txBox="1"/>
          <p:nvPr/>
        </p:nvSpPr>
        <p:spPr>
          <a:xfrm>
            <a:off x="7849476" y="5451994"/>
            <a:ext cx="5270864" cy="4967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59080" lvl="1" algn="r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GeeksforGeeks</a:t>
            </a: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, 2025; Ireland, n.d.)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1"/>
            <a:ext cx="10287001" cy="18288002"/>
          </a:xfrm>
          <a:custGeom>
            <a:avLst/>
            <a:gdLst/>
            <a:ahLst/>
            <a:cxnLst/>
            <a:rect l="l" t="t" r="r" b="b"/>
            <a:pathLst>
              <a:path w="11718479" h="20832852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3" name="Freeform 3"/>
          <p:cNvSpPr/>
          <p:nvPr/>
        </p:nvSpPr>
        <p:spPr>
          <a:xfrm flipV="1">
            <a:off x="519025" y="685100"/>
            <a:ext cx="2071075" cy="2071075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 flipH="1">
            <a:off x="15486600" y="7654212"/>
            <a:ext cx="2071075" cy="2071075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>
            <a:off x="57095" y="7695024"/>
            <a:ext cx="2364367" cy="2364367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7" name="Group 7"/>
          <p:cNvGrpSpPr/>
          <p:nvPr/>
        </p:nvGrpSpPr>
        <p:grpSpPr>
          <a:xfrm>
            <a:off x="715007" y="4447926"/>
            <a:ext cx="8145923" cy="4262433"/>
            <a:chOff x="0" y="0"/>
            <a:chExt cx="2238372" cy="128140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38372" cy="1281401"/>
            </a:xfrm>
            <a:custGeom>
              <a:avLst/>
              <a:gdLst/>
              <a:ahLst/>
              <a:cxnLst/>
              <a:rect l="l" t="t" r="r" b="b"/>
              <a:pathLst>
                <a:path w="2238372" h="1281401">
                  <a:moveTo>
                    <a:pt x="44792" y="0"/>
                  </a:moveTo>
                  <a:lnTo>
                    <a:pt x="2193580" y="0"/>
                  </a:lnTo>
                  <a:cubicBezTo>
                    <a:pt x="2218318" y="0"/>
                    <a:pt x="2238372" y="20054"/>
                    <a:pt x="2238372" y="44792"/>
                  </a:cubicBezTo>
                  <a:lnTo>
                    <a:pt x="2238372" y="1236609"/>
                  </a:lnTo>
                  <a:cubicBezTo>
                    <a:pt x="2238372" y="1248489"/>
                    <a:pt x="2233652" y="1259882"/>
                    <a:pt x="2225252" y="1268282"/>
                  </a:cubicBezTo>
                  <a:cubicBezTo>
                    <a:pt x="2216852" y="1276682"/>
                    <a:pt x="2205459" y="1281401"/>
                    <a:pt x="2193580" y="1281401"/>
                  </a:cubicBezTo>
                  <a:lnTo>
                    <a:pt x="44792" y="1281401"/>
                  </a:lnTo>
                  <a:cubicBezTo>
                    <a:pt x="20054" y="1281401"/>
                    <a:pt x="0" y="1261347"/>
                    <a:pt x="0" y="1236609"/>
                  </a:cubicBezTo>
                  <a:lnTo>
                    <a:pt x="0" y="44792"/>
                  </a:lnTo>
                  <a:cubicBezTo>
                    <a:pt x="0" y="20054"/>
                    <a:pt x="20054" y="0"/>
                    <a:pt x="44792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238372" cy="1319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124530" y="701150"/>
            <a:ext cx="10269290" cy="2205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 b="1" dirty="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Practicality in the Real World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2729" y="4654278"/>
            <a:ext cx="8090477" cy="43747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Encryption alone cannot verify a server's identity.</a:t>
            </a:r>
          </a:p>
          <a:p>
            <a:pPr marL="518160" lvl="1" indent="-259080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Attackers can attempt Man-in-the-Middle (MITM) attacks by substituting public keys. </a:t>
            </a:r>
          </a:p>
          <a:p>
            <a:pPr marL="518160" lvl="1" indent="-259080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Digital certificates are signed by trusted Certificate Authorities (CAs). </a:t>
            </a:r>
          </a:p>
          <a:p>
            <a:pPr marL="518160" lvl="1" indent="-259080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Certificates bind public keys to verified identities. </a:t>
            </a:r>
          </a:p>
          <a:p>
            <a:pPr marL="518160" lvl="1" indent="-259080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Proper certificate validation helps prevent MITM attacks.</a:t>
            </a:r>
          </a:p>
          <a:p>
            <a:pPr marL="259080" lvl="1">
              <a:lnSpc>
                <a:spcPct val="150000"/>
              </a:lnSpc>
            </a:pP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Aileron"/>
              <a:cs typeface="Aileron"/>
              <a:sym typeface="Aileron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777880" y="2733898"/>
            <a:ext cx="8962589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>
                <a:solidFill>
                  <a:srgbClr val="545454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Digital Certificates</a:t>
            </a:r>
          </a:p>
        </p:txBody>
      </p:sp>
      <p:pic>
        <p:nvPicPr>
          <p:cNvPr id="15" name="Picture 14" descr="Avoiding man-in-the-middle (MITM) attacks">
            <a:extLst>
              <a:ext uri="{FF2B5EF4-FFF2-40B4-BE49-F238E27FC236}">
                <a16:creationId xmlns:a16="http://schemas.microsoft.com/office/drawing/2014/main" id="{4DCE26C5-E2AE-51F1-E93A-0BE7635D8E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9158" y="4447926"/>
            <a:ext cx="8090477" cy="4248484"/>
          </a:xfrm>
          <a:prstGeom prst="rect">
            <a:avLst/>
          </a:prstGeom>
          <a:effectLst>
            <a:outerShdw blurRad="254000" dist="635000" dir="24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10" name="TextBox 20">
            <a:extLst>
              <a:ext uri="{FF2B5EF4-FFF2-40B4-BE49-F238E27FC236}">
                <a16:creationId xmlns:a16="http://schemas.microsoft.com/office/drawing/2014/main" id="{48E6BF09-7C64-81C4-5BE8-667B3C2383FF}"/>
              </a:ext>
            </a:extLst>
          </p:cNvPr>
          <p:cNvSpPr txBox="1"/>
          <p:nvPr/>
        </p:nvSpPr>
        <p:spPr>
          <a:xfrm>
            <a:off x="14020800" y="8689749"/>
            <a:ext cx="3811619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59080" lvl="1">
              <a:lnSpc>
                <a:spcPct val="100000"/>
              </a:lnSpc>
              <a:spcBef>
                <a:spcPct val="0"/>
              </a:spcBef>
            </a:pPr>
            <a:r>
              <a:rPr lang="en-US" sz="2400" dirty="0"/>
              <a:t>(</a:t>
            </a:r>
            <a:r>
              <a:rPr lang="en-US" sz="2400" dirty="0" err="1"/>
              <a:t>DecisionTele</a:t>
            </a:r>
            <a:r>
              <a:rPr lang="en-US" sz="2400" dirty="0"/>
              <a:t>, n.d.)</a:t>
            </a: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2D9F9E34-2F1E-226B-1EDF-F6B064263AC9}"/>
              </a:ext>
            </a:extLst>
          </p:cNvPr>
          <p:cNvSpPr/>
          <p:nvPr/>
        </p:nvSpPr>
        <p:spPr>
          <a:xfrm>
            <a:off x="14660974" y="0"/>
            <a:ext cx="3657600" cy="36576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7" name="TextBox 20">
            <a:extLst>
              <a:ext uri="{FF2B5EF4-FFF2-40B4-BE49-F238E27FC236}">
                <a16:creationId xmlns:a16="http://schemas.microsoft.com/office/drawing/2014/main" id="{E89D0632-A6F1-9573-29B4-CA6D9FC1366D}"/>
              </a:ext>
            </a:extLst>
          </p:cNvPr>
          <p:cNvSpPr txBox="1"/>
          <p:nvPr/>
        </p:nvSpPr>
        <p:spPr>
          <a:xfrm>
            <a:off x="4841491" y="8696410"/>
            <a:ext cx="4112539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59080" lvl="1">
              <a:lnSpc>
                <a:spcPct val="100000"/>
              </a:lnSpc>
              <a:spcBef>
                <a:spcPct val="0"/>
              </a:spcBef>
            </a:pPr>
            <a:r>
              <a:rPr lang="en-KR" sz="2400" dirty="0"/>
              <a:t>(Tucker, 2024; Rescorla, 2018)</a:t>
            </a: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1"/>
            <a:ext cx="10287001" cy="18288002"/>
          </a:xfrm>
          <a:custGeom>
            <a:avLst/>
            <a:gdLst/>
            <a:ahLst/>
            <a:cxnLst/>
            <a:rect l="l" t="t" r="r" b="b"/>
            <a:pathLst>
              <a:path w="11718479" h="20832852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 flipV="1">
            <a:off x="519025" y="685100"/>
            <a:ext cx="2071075" cy="2071075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 flipH="1">
            <a:off x="15486600" y="7654212"/>
            <a:ext cx="2071075" cy="2071075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>
            <a:off x="57095" y="7695024"/>
            <a:ext cx="2364367" cy="2364367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0" name="Freeform 10"/>
          <p:cNvSpPr/>
          <p:nvPr/>
        </p:nvSpPr>
        <p:spPr>
          <a:xfrm>
            <a:off x="374773" y="3609587"/>
            <a:ext cx="6178427" cy="6178428"/>
          </a:xfrm>
          <a:custGeom>
            <a:avLst/>
            <a:gdLst/>
            <a:ahLst/>
            <a:cxnLst/>
            <a:rect l="l" t="t" r="r" b="b"/>
            <a:pathLst>
              <a:path w="5925271" h="5925271">
                <a:moveTo>
                  <a:pt x="0" y="0"/>
                </a:moveTo>
                <a:lnTo>
                  <a:pt x="5925271" y="0"/>
                </a:lnTo>
                <a:lnTo>
                  <a:pt x="5925271" y="5925271"/>
                </a:lnTo>
                <a:lnTo>
                  <a:pt x="0" y="59252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11" name="TextBox 11"/>
          <p:cNvSpPr txBox="1"/>
          <p:nvPr/>
        </p:nvSpPr>
        <p:spPr>
          <a:xfrm>
            <a:off x="2574163" y="256838"/>
            <a:ext cx="10317559" cy="2205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 b="1" dirty="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Practicality in the Real World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00070" y="2293510"/>
            <a:ext cx="7681682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>
                <a:solidFill>
                  <a:srgbClr val="545454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SSH and HTTPS</a:t>
            </a:r>
          </a:p>
        </p:txBody>
      </p:sp>
      <p:grpSp>
        <p:nvGrpSpPr>
          <p:cNvPr id="14" name="Group 3">
            <a:extLst>
              <a:ext uri="{FF2B5EF4-FFF2-40B4-BE49-F238E27FC236}">
                <a16:creationId xmlns:a16="http://schemas.microsoft.com/office/drawing/2014/main" id="{8463DB46-FB95-2702-BF56-EBA55E606C88}"/>
              </a:ext>
            </a:extLst>
          </p:cNvPr>
          <p:cNvGrpSpPr/>
          <p:nvPr/>
        </p:nvGrpSpPr>
        <p:grpSpPr>
          <a:xfrm>
            <a:off x="7010400" y="3619449"/>
            <a:ext cx="5021926" cy="3143162"/>
            <a:chOff x="0" y="-38100"/>
            <a:chExt cx="1723392" cy="984671"/>
          </a:xfrm>
        </p:grpSpPr>
        <p:sp>
          <p:nvSpPr>
            <p:cNvPr id="15" name="Freeform 4">
              <a:extLst>
                <a:ext uri="{FF2B5EF4-FFF2-40B4-BE49-F238E27FC236}">
                  <a16:creationId xmlns:a16="http://schemas.microsoft.com/office/drawing/2014/main" id="{97CDB3E4-EC51-0455-E846-57D84044BE54}"/>
                </a:ext>
              </a:extLst>
            </p:cNvPr>
            <p:cNvSpPr/>
            <p:nvPr/>
          </p:nvSpPr>
          <p:spPr>
            <a:xfrm>
              <a:off x="0" y="0"/>
              <a:ext cx="1723392" cy="946571"/>
            </a:xfrm>
            <a:custGeom>
              <a:avLst/>
              <a:gdLst/>
              <a:ahLst/>
              <a:cxnLst/>
              <a:rect l="l" t="t" r="r" b="b"/>
              <a:pathLst>
                <a:path w="1723392" h="946571">
                  <a:moveTo>
                    <a:pt x="60340" y="0"/>
                  </a:moveTo>
                  <a:lnTo>
                    <a:pt x="1663051" y="0"/>
                  </a:lnTo>
                  <a:cubicBezTo>
                    <a:pt x="1679054" y="0"/>
                    <a:pt x="1694402" y="6357"/>
                    <a:pt x="1705718" y="17673"/>
                  </a:cubicBezTo>
                  <a:cubicBezTo>
                    <a:pt x="1717034" y="28989"/>
                    <a:pt x="1723392" y="44337"/>
                    <a:pt x="1723392" y="60340"/>
                  </a:cubicBezTo>
                  <a:lnTo>
                    <a:pt x="1723392" y="886230"/>
                  </a:lnTo>
                  <a:cubicBezTo>
                    <a:pt x="1723392" y="919555"/>
                    <a:pt x="1696376" y="946571"/>
                    <a:pt x="1663051" y="946571"/>
                  </a:cubicBezTo>
                  <a:lnTo>
                    <a:pt x="60340" y="946571"/>
                  </a:lnTo>
                  <a:cubicBezTo>
                    <a:pt x="44337" y="946571"/>
                    <a:pt x="28989" y="940213"/>
                    <a:pt x="17673" y="928897"/>
                  </a:cubicBezTo>
                  <a:cubicBezTo>
                    <a:pt x="6357" y="917581"/>
                    <a:pt x="0" y="902233"/>
                    <a:pt x="0" y="886230"/>
                  </a:cubicBezTo>
                  <a:lnTo>
                    <a:pt x="0" y="60340"/>
                  </a:lnTo>
                  <a:cubicBezTo>
                    <a:pt x="0" y="44337"/>
                    <a:pt x="6357" y="28989"/>
                    <a:pt x="17673" y="17673"/>
                  </a:cubicBezTo>
                  <a:cubicBezTo>
                    <a:pt x="28989" y="6357"/>
                    <a:pt x="44337" y="0"/>
                    <a:pt x="60340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TextBox 5">
              <a:extLst>
                <a:ext uri="{FF2B5EF4-FFF2-40B4-BE49-F238E27FC236}">
                  <a16:creationId xmlns:a16="http://schemas.microsoft.com/office/drawing/2014/main" id="{9F7BC63D-6748-AFDF-E5C3-DB636B14A0F3}"/>
                </a:ext>
              </a:extLst>
            </p:cNvPr>
            <p:cNvSpPr txBox="1"/>
            <p:nvPr/>
          </p:nvSpPr>
          <p:spPr>
            <a:xfrm>
              <a:off x="0" y="-38100"/>
              <a:ext cx="1723392" cy="9846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21">
            <a:extLst>
              <a:ext uri="{FF2B5EF4-FFF2-40B4-BE49-F238E27FC236}">
                <a16:creationId xmlns:a16="http://schemas.microsoft.com/office/drawing/2014/main" id="{699AD857-5E47-0ECB-33A6-BD7A79CA3947}"/>
              </a:ext>
            </a:extLst>
          </p:cNvPr>
          <p:cNvSpPr txBox="1"/>
          <p:nvPr/>
        </p:nvSpPr>
        <p:spPr>
          <a:xfrm>
            <a:off x="7135047" y="3946399"/>
            <a:ext cx="4763743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sz="3000" b="1" dirty="0">
                <a:solidFill>
                  <a:srgbClr val="000000"/>
                </a:solidFill>
                <a:latin typeface="Alegreya Sans SC Medium"/>
                <a:ea typeface="Alegreya Sans SC Medium"/>
                <a:cs typeface="Alegreya Sans SC Medium"/>
                <a:sym typeface="Alegreya Sans SC Medium"/>
              </a:rPr>
              <a:t>SSH (Secure Shell)</a:t>
            </a: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99AB73F1-FD34-4876-8EC5-552499D72D85}"/>
              </a:ext>
            </a:extLst>
          </p:cNvPr>
          <p:cNvSpPr txBox="1"/>
          <p:nvPr/>
        </p:nvSpPr>
        <p:spPr>
          <a:xfrm>
            <a:off x="7129380" y="4399843"/>
            <a:ext cx="4688101" cy="2158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Connects users securely to remote servers. </a:t>
            </a:r>
          </a:p>
          <a:p>
            <a:pPr marL="518160" lvl="1" indent="-259080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Can use RSA key pairs for authentication.</a:t>
            </a:r>
          </a:p>
        </p:txBody>
      </p:sp>
      <p:grpSp>
        <p:nvGrpSpPr>
          <p:cNvPr id="34" name="Group 3">
            <a:extLst>
              <a:ext uri="{FF2B5EF4-FFF2-40B4-BE49-F238E27FC236}">
                <a16:creationId xmlns:a16="http://schemas.microsoft.com/office/drawing/2014/main" id="{FB22A857-96AE-B922-6472-A62804FE606C}"/>
              </a:ext>
            </a:extLst>
          </p:cNvPr>
          <p:cNvGrpSpPr/>
          <p:nvPr/>
        </p:nvGrpSpPr>
        <p:grpSpPr>
          <a:xfrm>
            <a:off x="12891722" y="3598407"/>
            <a:ext cx="5021926" cy="3143162"/>
            <a:chOff x="0" y="-38100"/>
            <a:chExt cx="1723392" cy="984671"/>
          </a:xfrm>
        </p:grpSpPr>
        <p:sp>
          <p:nvSpPr>
            <p:cNvPr id="35" name="Freeform 4">
              <a:extLst>
                <a:ext uri="{FF2B5EF4-FFF2-40B4-BE49-F238E27FC236}">
                  <a16:creationId xmlns:a16="http://schemas.microsoft.com/office/drawing/2014/main" id="{7228FF0F-84C3-414A-1D60-09815FACEF2B}"/>
                </a:ext>
              </a:extLst>
            </p:cNvPr>
            <p:cNvSpPr/>
            <p:nvPr/>
          </p:nvSpPr>
          <p:spPr>
            <a:xfrm>
              <a:off x="0" y="0"/>
              <a:ext cx="1723392" cy="946571"/>
            </a:xfrm>
            <a:custGeom>
              <a:avLst/>
              <a:gdLst/>
              <a:ahLst/>
              <a:cxnLst/>
              <a:rect l="l" t="t" r="r" b="b"/>
              <a:pathLst>
                <a:path w="1723392" h="946571">
                  <a:moveTo>
                    <a:pt x="60340" y="0"/>
                  </a:moveTo>
                  <a:lnTo>
                    <a:pt x="1663051" y="0"/>
                  </a:lnTo>
                  <a:cubicBezTo>
                    <a:pt x="1679054" y="0"/>
                    <a:pt x="1694402" y="6357"/>
                    <a:pt x="1705718" y="17673"/>
                  </a:cubicBezTo>
                  <a:cubicBezTo>
                    <a:pt x="1717034" y="28989"/>
                    <a:pt x="1723392" y="44337"/>
                    <a:pt x="1723392" y="60340"/>
                  </a:cubicBezTo>
                  <a:lnTo>
                    <a:pt x="1723392" y="886230"/>
                  </a:lnTo>
                  <a:cubicBezTo>
                    <a:pt x="1723392" y="919555"/>
                    <a:pt x="1696376" y="946571"/>
                    <a:pt x="1663051" y="946571"/>
                  </a:cubicBezTo>
                  <a:lnTo>
                    <a:pt x="60340" y="946571"/>
                  </a:lnTo>
                  <a:cubicBezTo>
                    <a:pt x="44337" y="946571"/>
                    <a:pt x="28989" y="940213"/>
                    <a:pt x="17673" y="928897"/>
                  </a:cubicBezTo>
                  <a:cubicBezTo>
                    <a:pt x="6357" y="917581"/>
                    <a:pt x="0" y="902233"/>
                    <a:pt x="0" y="886230"/>
                  </a:cubicBezTo>
                  <a:lnTo>
                    <a:pt x="0" y="60340"/>
                  </a:lnTo>
                  <a:cubicBezTo>
                    <a:pt x="0" y="44337"/>
                    <a:pt x="6357" y="28989"/>
                    <a:pt x="17673" y="17673"/>
                  </a:cubicBezTo>
                  <a:cubicBezTo>
                    <a:pt x="28989" y="6357"/>
                    <a:pt x="44337" y="0"/>
                    <a:pt x="60340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36" name="TextBox 5">
              <a:extLst>
                <a:ext uri="{FF2B5EF4-FFF2-40B4-BE49-F238E27FC236}">
                  <a16:creationId xmlns:a16="http://schemas.microsoft.com/office/drawing/2014/main" id="{0791BF13-6314-7510-7125-A5A245336125}"/>
                </a:ext>
              </a:extLst>
            </p:cNvPr>
            <p:cNvSpPr txBox="1"/>
            <p:nvPr/>
          </p:nvSpPr>
          <p:spPr>
            <a:xfrm>
              <a:off x="0" y="-38100"/>
              <a:ext cx="1723392" cy="9846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TextBox 21">
            <a:extLst>
              <a:ext uri="{FF2B5EF4-FFF2-40B4-BE49-F238E27FC236}">
                <a16:creationId xmlns:a16="http://schemas.microsoft.com/office/drawing/2014/main" id="{E08220F5-D1A0-D207-43FD-2B59A8484D9C}"/>
              </a:ext>
            </a:extLst>
          </p:cNvPr>
          <p:cNvSpPr txBox="1"/>
          <p:nvPr/>
        </p:nvSpPr>
        <p:spPr>
          <a:xfrm>
            <a:off x="13016369" y="3925357"/>
            <a:ext cx="4763743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sz="3000" b="1" dirty="0">
                <a:solidFill>
                  <a:srgbClr val="000000"/>
                </a:solidFill>
                <a:latin typeface="Alegreya Sans SC Medium"/>
                <a:ea typeface="Alegreya Sans SC Medium"/>
                <a:cs typeface="Alegreya Sans SC Medium"/>
                <a:sym typeface="Alegreya Sans SC Medium"/>
              </a:rPr>
              <a:t>Security Benefits</a:t>
            </a:r>
          </a:p>
        </p:txBody>
      </p:sp>
      <p:sp>
        <p:nvSpPr>
          <p:cNvPr id="38" name="TextBox 20">
            <a:extLst>
              <a:ext uri="{FF2B5EF4-FFF2-40B4-BE49-F238E27FC236}">
                <a16:creationId xmlns:a16="http://schemas.microsoft.com/office/drawing/2014/main" id="{164670F4-92BA-82EF-53AE-BA67A3236225}"/>
              </a:ext>
            </a:extLst>
          </p:cNvPr>
          <p:cNvSpPr txBox="1"/>
          <p:nvPr/>
        </p:nvSpPr>
        <p:spPr>
          <a:xfrm>
            <a:off x="13010702" y="4399843"/>
            <a:ext cx="4688101" cy="2158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Protects against unauthorized access and impersonation. </a:t>
            </a:r>
          </a:p>
          <a:p>
            <a:pPr marL="518160" lvl="1" indent="-259080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Public keys can be shared without revealing private keys.</a:t>
            </a:r>
          </a:p>
        </p:txBody>
      </p:sp>
      <p:grpSp>
        <p:nvGrpSpPr>
          <p:cNvPr id="39" name="Group 3">
            <a:extLst>
              <a:ext uri="{FF2B5EF4-FFF2-40B4-BE49-F238E27FC236}">
                <a16:creationId xmlns:a16="http://schemas.microsoft.com/office/drawing/2014/main" id="{BB13F866-28B5-E8F4-77FE-0DE695AF8306}"/>
              </a:ext>
            </a:extLst>
          </p:cNvPr>
          <p:cNvGrpSpPr/>
          <p:nvPr/>
        </p:nvGrpSpPr>
        <p:grpSpPr>
          <a:xfrm>
            <a:off x="7010400" y="6800932"/>
            <a:ext cx="10902827" cy="2791890"/>
            <a:chOff x="0" y="-38100"/>
            <a:chExt cx="1723392" cy="984671"/>
          </a:xfrm>
        </p:grpSpPr>
        <p:sp>
          <p:nvSpPr>
            <p:cNvPr id="40" name="Freeform 4">
              <a:extLst>
                <a:ext uri="{FF2B5EF4-FFF2-40B4-BE49-F238E27FC236}">
                  <a16:creationId xmlns:a16="http://schemas.microsoft.com/office/drawing/2014/main" id="{16126E9B-7FEE-F418-0D49-0084937C21CD}"/>
                </a:ext>
              </a:extLst>
            </p:cNvPr>
            <p:cNvSpPr/>
            <p:nvPr/>
          </p:nvSpPr>
          <p:spPr>
            <a:xfrm>
              <a:off x="0" y="0"/>
              <a:ext cx="1723392" cy="946571"/>
            </a:xfrm>
            <a:custGeom>
              <a:avLst/>
              <a:gdLst/>
              <a:ahLst/>
              <a:cxnLst/>
              <a:rect l="l" t="t" r="r" b="b"/>
              <a:pathLst>
                <a:path w="1723392" h="946571">
                  <a:moveTo>
                    <a:pt x="60340" y="0"/>
                  </a:moveTo>
                  <a:lnTo>
                    <a:pt x="1663051" y="0"/>
                  </a:lnTo>
                  <a:cubicBezTo>
                    <a:pt x="1679054" y="0"/>
                    <a:pt x="1694402" y="6357"/>
                    <a:pt x="1705718" y="17673"/>
                  </a:cubicBezTo>
                  <a:cubicBezTo>
                    <a:pt x="1717034" y="28989"/>
                    <a:pt x="1723392" y="44337"/>
                    <a:pt x="1723392" y="60340"/>
                  </a:cubicBezTo>
                  <a:lnTo>
                    <a:pt x="1723392" y="886230"/>
                  </a:lnTo>
                  <a:cubicBezTo>
                    <a:pt x="1723392" y="919555"/>
                    <a:pt x="1696376" y="946571"/>
                    <a:pt x="1663051" y="946571"/>
                  </a:cubicBezTo>
                  <a:lnTo>
                    <a:pt x="60340" y="946571"/>
                  </a:lnTo>
                  <a:cubicBezTo>
                    <a:pt x="44337" y="946571"/>
                    <a:pt x="28989" y="940213"/>
                    <a:pt x="17673" y="928897"/>
                  </a:cubicBezTo>
                  <a:cubicBezTo>
                    <a:pt x="6357" y="917581"/>
                    <a:pt x="0" y="902233"/>
                    <a:pt x="0" y="886230"/>
                  </a:cubicBezTo>
                  <a:lnTo>
                    <a:pt x="0" y="60340"/>
                  </a:lnTo>
                  <a:cubicBezTo>
                    <a:pt x="0" y="44337"/>
                    <a:pt x="6357" y="28989"/>
                    <a:pt x="17673" y="17673"/>
                  </a:cubicBezTo>
                  <a:cubicBezTo>
                    <a:pt x="28989" y="6357"/>
                    <a:pt x="44337" y="0"/>
                    <a:pt x="60340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41" name="TextBox 5">
              <a:extLst>
                <a:ext uri="{FF2B5EF4-FFF2-40B4-BE49-F238E27FC236}">
                  <a16:creationId xmlns:a16="http://schemas.microsoft.com/office/drawing/2014/main" id="{18C3F810-1125-54D0-4C01-C3D1F96C65CA}"/>
                </a:ext>
              </a:extLst>
            </p:cNvPr>
            <p:cNvSpPr txBox="1"/>
            <p:nvPr/>
          </p:nvSpPr>
          <p:spPr>
            <a:xfrm>
              <a:off x="0" y="-38100"/>
              <a:ext cx="1723392" cy="9846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2" name="TextBox 21">
            <a:extLst>
              <a:ext uri="{FF2B5EF4-FFF2-40B4-BE49-F238E27FC236}">
                <a16:creationId xmlns:a16="http://schemas.microsoft.com/office/drawing/2014/main" id="{008AADB9-E25A-AD34-6CC1-4957F8837F07}"/>
              </a:ext>
            </a:extLst>
          </p:cNvPr>
          <p:cNvSpPr txBox="1"/>
          <p:nvPr/>
        </p:nvSpPr>
        <p:spPr>
          <a:xfrm>
            <a:off x="8935264" y="6989212"/>
            <a:ext cx="7752266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sz="3000" b="1" dirty="0">
                <a:solidFill>
                  <a:srgbClr val="000000"/>
                </a:solidFill>
                <a:latin typeface="Alegreya Sans SC Medium"/>
                <a:ea typeface="Alegreya Sans SC Medium"/>
                <a:cs typeface="Alegreya Sans SC Medium"/>
                <a:sym typeface="Alegreya Sans SC Medium"/>
              </a:rPr>
              <a:t>HTTPS (Hypertext Transfer Protocol Secure)</a:t>
            </a:r>
          </a:p>
        </p:txBody>
      </p:sp>
      <p:sp>
        <p:nvSpPr>
          <p:cNvPr id="43" name="TextBox 20">
            <a:extLst>
              <a:ext uri="{FF2B5EF4-FFF2-40B4-BE49-F238E27FC236}">
                <a16:creationId xmlns:a16="http://schemas.microsoft.com/office/drawing/2014/main" id="{A2EC4BB9-1CB0-AE09-F86E-E26C13B6DD70}"/>
              </a:ext>
            </a:extLst>
          </p:cNvPr>
          <p:cNvSpPr txBox="1"/>
          <p:nvPr/>
        </p:nvSpPr>
        <p:spPr>
          <a:xfrm>
            <a:off x="7706688" y="7285562"/>
            <a:ext cx="9850986" cy="2158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Uses TLS to establish secure connections. </a:t>
            </a:r>
          </a:p>
          <a:p>
            <a:pPr marL="518160" lvl="1" indent="-259080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Uses digital certificates for server authentication. </a:t>
            </a:r>
          </a:p>
          <a:p>
            <a:pPr marL="518160" lvl="1" indent="-259080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RSA can be used for digital signatures. </a:t>
            </a:r>
          </a:p>
          <a:p>
            <a:pPr marL="518160" lvl="1" indent="-259080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Modern HTTPS encrypts transmitted data using symmetric encryption.</a:t>
            </a:r>
          </a:p>
        </p:txBody>
      </p:sp>
      <p:sp>
        <p:nvSpPr>
          <p:cNvPr id="44" name="TextBox 20">
            <a:extLst>
              <a:ext uri="{FF2B5EF4-FFF2-40B4-BE49-F238E27FC236}">
                <a16:creationId xmlns:a16="http://schemas.microsoft.com/office/drawing/2014/main" id="{A7158E3B-C024-D11E-A4A1-D1BF3DECB96E}"/>
              </a:ext>
            </a:extLst>
          </p:cNvPr>
          <p:cNvSpPr txBox="1"/>
          <p:nvPr/>
        </p:nvSpPr>
        <p:spPr>
          <a:xfrm>
            <a:off x="4305693" y="9648559"/>
            <a:ext cx="2247507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59080" lvl="1">
              <a:lnSpc>
                <a:spcPct val="100000"/>
              </a:lnSpc>
              <a:spcBef>
                <a:spcPct val="0"/>
              </a:spcBef>
            </a:pPr>
            <a:r>
              <a:rPr lang="en-KR" sz="2400" dirty="0"/>
              <a:t>(Balogun, 2024)</a:t>
            </a: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45" name="TextBox 20">
            <a:extLst>
              <a:ext uri="{FF2B5EF4-FFF2-40B4-BE49-F238E27FC236}">
                <a16:creationId xmlns:a16="http://schemas.microsoft.com/office/drawing/2014/main" id="{C0634DC9-7261-8854-C028-858C9CE0AA94}"/>
              </a:ext>
            </a:extLst>
          </p:cNvPr>
          <p:cNvSpPr txBox="1"/>
          <p:nvPr/>
        </p:nvSpPr>
        <p:spPr>
          <a:xfrm>
            <a:off x="6424301" y="9486288"/>
            <a:ext cx="5021925" cy="4967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59080" lvl="1" algn="r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DigitalOcean</a:t>
            </a: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, n.d.; Rescorla, 2018)</a:t>
            </a: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27BCBECB-B76B-4F88-7028-B6DB71721B56}"/>
              </a:ext>
            </a:extLst>
          </p:cNvPr>
          <p:cNvSpPr/>
          <p:nvPr/>
        </p:nvSpPr>
        <p:spPr>
          <a:xfrm>
            <a:off x="14660974" y="0"/>
            <a:ext cx="3657600" cy="36576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75311" y="-3875312"/>
            <a:ext cx="10537380" cy="18288002"/>
          </a:xfrm>
          <a:custGeom>
            <a:avLst/>
            <a:gdLst/>
            <a:ahLst/>
            <a:cxnLst/>
            <a:rect l="l" t="t" r="r" b="b"/>
            <a:pathLst>
              <a:path w="11718479" h="20832852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 flipV="1">
            <a:off x="519025" y="634692"/>
            <a:ext cx="2071075" cy="212148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 flipH="1">
            <a:off x="15486600" y="7603804"/>
            <a:ext cx="2071075" cy="212148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>
            <a:off x="57095" y="7637478"/>
            <a:ext cx="2364367" cy="2421914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1" name="TextBox 11"/>
          <p:cNvSpPr txBox="1"/>
          <p:nvPr/>
        </p:nvSpPr>
        <p:spPr>
          <a:xfrm>
            <a:off x="1239278" y="867788"/>
            <a:ext cx="12840818" cy="2205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 b="1" dirty="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The Future of RSA Encryption</a:t>
            </a:r>
          </a:p>
        </p:txBody>
      </p:sp>
      <p:pic>
        <p:nvPicPr>
          <p:cNvPr id="14" name="Picture 13" descr="Post-Quantum Cryptography Set to Replace RSA, ECC">
            <a:extLst>
              <a:ext uri="{FF2B5EF4-FFF2-40B4-BE49-F238E27FC236}">
                <a16:creationId xmlns:a16="http://schemas.microsoft.com/office/drawing/2014/main" id="{F8385719-0BAB-FCB6-91E6-2CE2F67D8D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341" y="3878227"/>
            <a:ext cx="12112682" cy="5685767"/>
          </a:xfrm>
          <a:prstGeom prst="rect">
            <a:avLst/>
          </a:prstGeom>
          <a:effectLst>
            <a:outerShdw blurRad="254000" dist="762000" dir="2400000" algn="ctr" rotWithShape="0">
              <a:srgbClr val="000000">
                <a:alpha val="40000"/>
              </a:srgbClr>
            </a:outerShdw>
          </a:effectLst>
        </p:spPr>
      </p:pic>
      <p:grpSp>
        <p:nvGrpSpPr>
          <p:cNvPr id="7" name="Group 3">
            <a:extLst>
              <a:ext uri="{FF2B5EF4-FFF2-40B4-BE49-F238E27FC236}">
                <a16:creationId xmlns:a16="http://schemas.microsoft.com/office/drawing/2014/main" id="{06B71753-1993-4416-2E18-45CCF848B910}"/>
              </a:ext>
            </a:extLst>
          </p:cNvPr>
          <p:cNvGrpSpPr/>
          <p:nvPr/>
        </p:nvGrpSpPr>
        <p:grpSpPr>
          <a:xfrm>
            <a:off x="12649200" y="3527504"/>
            <a:ext cx="5411263" cy="5996187"/>
            <a:chOff x="0" y="-38100"/>
            <a:chExt cx="1723392" cy="984671"/>
          </a:xfrm>
        </p:grpSpPr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69D96282-09F8-E8AC-374F-85C26AA472CB}"/>
                </a:ext>
              </a:extLst>
            </p:cNvPr>
            <p:cNvSpPr/>
            <p:nvPr/>
          </p:nvSpPr>
          <p:spPr>
            <a:xfrm>
              <a:off x="0" y="0"/>
              <a:ext cx="1723392" cy="946571"/>
            </a:xfrm>
            <a:custGeom>
              <a:avLst/>
              <a:gdLst/>
              <a:ahLst/>
              <a:cxnLst/>
              <a:rect l="l" t="t" r="r" b="b"/>
              <a:pathLst>
                <a:path w="1723392" h="946571">
                  <a:moveTo>
                    <a:pt x="60340" y="0"/>
                  </a:moveTo>
                  <a:lnTo>
                    <a:pt x="1663051" y="0"/>
                  </a:lnTo>
                  <a:cubicBezTo>
                    <a:pt x="1679054" y="0"/>
                    <a:pt x="1694402" y="6357"/>
                    <a:pt x="1705718" y="17673"/>
                  </a:cubicBezTo>
                  <a:cubicBezTo>
                    <a:pt x="1717034" y="28989"/>
                    <a:pt x="1723392" y="44337"/>
                    <a:pt x="1723392" y="60340"/>
                  </a:cubicBezTo>
                  <a:lnTo>
                    <a:pt x="1723392" y="886230"/>
                  </a:lnTo>
                  <a:cubicBezTo>
                    <a:pt x="1723392" y="919555"/>
                    <a:pt x="1696376" y="946571"/>
                    <a:pt x="1663051" y="946571"/>
                  </a:cubicBezTo>
                  <a:lnTo>
                    <a:pt x="60340" y="946571"/>
                  </a:lnTo>
                  <a:cubicBezTo>
                    <a:pt x="44337" y="946571"/>
                    <a:pt x="28989" y="940213"/>
                    <a:pt x="17673" y="928897"/>
                  </a:cubicBezTo>
                  <a:cubicBezTo>
                    <a:pt x="6357" y="917581"/>
                    <a:pt x="0" y="902233"/>
                    <a:pt x="0" y="886230"/>
                  </a:cubicBezTo>
                  <a:lnTo>
                    <a:pt x="0" y="60340"/>
                  </a:lnTo>
                  <a:cubicBezTo>
                    <a:pt x="0" y="44337"/>
                    <a:pt x="6357" y="28989"/>
                    <a:pt x="17673" y="17673"/>
                  </a:cubicBezTo>
                  <a:cubicBezTo>
                    <a:pt x="28989" y="6357"/>
                    <a:pt x="44337" y="0"/>
                    <a:pt x="60340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9" name="TextBox 5">
              <a:extLst>
                <a:ext uri="{FF2B5EF4-FFF2-40B4-BE49-F238E27FC236}">
                  <a16:creationId xmlns:a16="http://schemas.microsoft.com/office/drawing/2014/main" id="{4B61717D-5AA3-9983-C82B-97CBF14E924A}"/>
                </a:ext>
              </a:extLst>
            </p:cNvPr>
            <p:cNvSpPr txBox="1"/>
            <p:nvPr/>
          </p:nvSpPr>
          <p:spPr>
            <a:xfrm>
              <a:off x="0" y="-38100"/>
              <a:ext cx="1723392" cy="9846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20">
            <a:extLst>
              <a:ext uri="{FF2B5EF4-FFF2-40B4-BE49-F238E27FC236}">
                <a16:creationId xmlns:a16="http://schemas.microsoft.com/office/drawing/2014/main" id="{B315981C-63DB-E73B-BF8F-BEE8C5FB383B}"/>
              </a:ext>
            </a:extLst>
          </p:cNvPr>
          <p:cNvSpPr txBox="1"/>
          <p:nvPr/>
        </p:nvSpPr>
        <p:spPr>
          <a:xfrm>
            <a:off x="12573000" y="3916328"/>
            <a:ext cx="5411263" cy="6463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RSA remains widely used today. </a:t>
            </a:r>
          </a:p>
          <a:p>
            <a:pPr marL="518160" lvl="1" indent="-259080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Quantum computing presents a potential future security threat. </a:t>
            </a:r>
          </a:p>
          <a:p>
            <a:pPr marL="518160" lvl="1" indent="-259080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Sufficiently powerful quantum computers could break RSA encryption. </a:t>
            </a:r>
          </a:p>
          <a:p>
            <a:pPr marL="518160" lvl="1" indent="-259080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NIST is guiding the transition to post-quantum cryptography. </a:t>
            </a:r>
          </a:p>
          <a:p>
            <a:pPr marL="518160" lvl="1" indent="-259080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Major proposed transition milestones: 2030 and 2035.</a:t>
            </a:r>
          </a:p>
          <a:p>
            <a:pPr marL="259080" lvl="1">
              <a:lnSpc>
                <a:spcPct val="150000"/>
              </a:lnSpc>
              <a:spcBef>
                <a:spcPct val="0"/>
              </a:spcBef>
            </a:pP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Open Sans"/>
              <a:cs typeface="Open Sans"/>
              <a:sym typeface="Open Sans"/>
            </a:endParaRPr>
          </a:p>
          <a:p>
            <a:pPr marL="259080" lvl="1" algn="r"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(Lebeaux, 2026; Moody et al., 2024)</a:t>
            </a:r>
          </a:p>
        </p:txBody>
      </p:sp>
      <p:sp>
        <p:nvSpPr>
          <p:cNvPr id="15" name="TextBox 20">
            <a:extLst>
              <a:ext uri="{FF2B5EF4-FFF2-40B4-BE49-F238E27FC236}">
                <a16:creationId xmlns:a16="http://schemas.microsoft.com/office/drawing/2014/main" id="{71484C4B-E0AF-F0AF-B7AD-B92F94FBE455}"/>
              </a:ext>
            </a:extLst>
          </p:cNvPr>
          <p:cNvSpPr txBox="1"/>
          <p:nvPr/>
        </p:nvSpPr>
        <p:spPr>
          <a:xfrm>
            <a:off x="9906000" y="9977675"/>
            <a:ext cx="2974037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59080" lvl="1">
              <a:lnSpc>
                <a:spcPct val="100000"/>
              </a:lnSpc>
              <a:spcBef>
                <a:spcPct val="0"/>
              </a:spcBef>
            </a:pPr>
            <a:r>
              <a:rPr lang="en-US" sz="2400" dirty="0"/>
              <a:t>(</a:t>
            </a:r>
            <a:r>
              <a:rPr lang="en-US" sz="2400" dirty="0" err="1"/>
              <a:t>PreScouter</a:t>
            </a:r>
            <a:r>
              <a:rPr lang="en-US" sz="2400" dirty="0"/>
              <a:t>, 2022)</a:t>
            </a: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C4CBE676-DE98-AD34-9C0C-AB4DBB219DEC}"/>
              </a:ext>
            </a:extLst>
          </p:cNvPr>
          <p:cNvSpPr/>
          <p:nvPr/>
        </p:nvSpPr>
        <p:spPr>
          <a:xfrm>
            <a:off x="14660974" y="0"/>
            <a:ext cx="3657600" cy="36576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8530" y="-3958531"/>
            <a:ext cx="10370942" cy="18288002"/>
          </a:xfrm>
          <a:custGeom>
            <a:avLst/>
            <a:gdLst/>
            <a:ahLst/>
            <a:cxnLst/>
            <a:rect l="l" t="t" r="r" b="b"/>
            <a:pathLst>
              <a:path w="11718479" h="20832852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 flipV="1">
            <a:off x="519025" y="668200"/>
            <a:ext cx="2071075" cy="2087975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 flipH="1">
            <a:off x="15486600" y="7637312"/>
            <a:ext cx="2071075" cy="2087975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>
            <a:off x="57095" y="7675732"/>
            <a:ext cx="2364367" cy="2383660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2" name="TextBox 12"/>
          <p:cNvSpPr txBox="1"/>
          <p:nvPr/>
        </p:nvSpPr>
        <p:spPr>
          <a:xfrm>
            <a:off x="6424633" y="1269380"/>
            <a:ext cx="5438733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60"/>
              </a:lnSpc>
            </a:pPr>
            <a:r>
              <a:rPr lang="en-US" sz="8000" b="1" dirty="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Closing Off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D17AEF4A-198A-1492-42D2-C8E99F8EAF9E}"/>
              </a:ext>
            </a:extLst>
          </p:cNvPr>
          <p:cNvSpPr/>
          <p:nvPr/>
        </p:nvSpPr>
        <p:spPr>
          <a:xfrm>
            <a:off x="14660974" y="0"/>
            <a:ext cx="3657600" cy="36576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pic>
        <p:nvPicPr>
          <p:cNvPr id="14" name="Picture 13" descr="RSA Algorithm: Secure Your Data with Public-Key Encryption">
            <a:extLst>
              <a:ext uri="{FF2B5EF4-FFF2-40B4-BE49-F238E27FC236}">
                <a16:creationId xmlns:a16="http://schemas.microsoft.com/office/drawing/2014/main" id="{CF3BE0D3-B24B-E4A8-A55E-68A7C7F696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0527" y="3135606"/>
            <a:ext cx="14346944" cy="6395775"/>
          </a:xfrm>
          <a:prstGeom prst="rect">
            <a:avLst/>
          </a:prstGeom>
          <a:effectLst>
            <a:outerShdw blurRad="254000" dist="889000" dir="24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7" name="TextBox 20">
            <a:extLst>
              <a:ext uri="{FF2B5EF4-FFF2-40B4-BE49-F238E27FC236}">
                <a16:creationId xmlns:a16="http://schemas.microsoft.com/office/drawing/2014/main" id="{724EA8F3-7EB7-4DB5-EC55-D8535EC2BA62}"/>
              </a:ext>
            </a:extLst>
          </p:cNvPr>
          <p:cNvSpPr txBox="1"/>
          <p:nvPr/>
        </p:nvSpPr>
        <p:spPr>
          <a:xfrm>
            <a:off x="2133600" y="9610720"/>
            <a:ext cx="2870724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59080" lvl="1">
              <a:lnSpc>
                <a:spcPct val="100000"/>
              </a:lnSpc>
              <a:spcBef>
                <a:spcPct val="0"/>
              </a:spcBef>
            </a:pPr>
            <a:r>
              <a:rPr lang="en-US" sz="2400" dirty="0"/>
              <a:t>(Simplilearn, n.d.)</a:t>
            </a: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F9627-ACDA-23FD-7EDD-35F061ACF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B2E85564-9014-6A14-E22F-384E59253ABE}"/>
              </a:ext>
            </a:extLst>
          </p:cNvPr>
          <p:cNvSpPr/>
          <p:nvPr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EA76D82-813C-24B0-10C6-A5C4C0B4343D}"/>
              </a:ext>
            </a:extLst>
          </p:cNvPr>
          <p:cNvSpPr/>
          <p:nvPr/>
        </p:nvSpPr>
        <p:spPr>
          <a:xfrm>
            <a:off x="14209837" y="-8290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AC8D73F4-2FAE-5DEC-4F1D-21D30F2AE596}"/>
              </a:ext>
            </a:extLst>
          </p:cNvPr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18B644FE-2642-F5CA-2C05-4BC2460387E6}"/>
              </a:ext>
            </a:extLst>
          </p:cNvPr>
          <p:cNvGrpSpPr/>
          <p:nvPr/>
        </p:nvGrpSpPr>
        <p:grpSpPr>
          <a:xfrm>
            <a:off x="223495" y="1943100"/>
            <a:ext cx="17841010" cy="7467600"/>
            <a:chOff x="0" y="-38100"/>
            <a:chExt cx="1723392" cy="984671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0B94563D-4489-DC2E-6B1C-41A70177578D}"/>
                </a:ext>
              </a:extLst>
            </p:cNvPr>
            <p:cNvSpPr/>
            <p:nvPr/>
          </p:nvSpPr>
          <p:spPr>
            <a:xfrm>
              <a:off x="0" y="0"/>
              <a:ext cx="1723392" cy="946571"/>
            </a:xfrm>
            <a:custGeom>
              <a:avLst/>
              <a:gdLst/>
              <a:ahLst/>
              <a:cxnLst/>
              <a:rect l="l" t="t" r="r" b="b"/>
              <a:pathLst>
                <a:path w="1723392" h="946571">
                  <a:moveTo>
                    <a:pt x="60340" y="0"/>
                  </a:moveTo>
                  <a:lnTo>
                    <a:pt x="1663051" y="0"/>
                  </a:lnTo>
                  <a:cubicBezTo>
                    <a:pt x="1679054" y="0"/>
                    <a:pt x="1694402" y="6357"/>
                    <a:pt x="1705718" y="17673"/>
                  </a:cubicBezTo>
                  <a:cubicBezTo>
                    <a:pt x="1717034" y="28989"/>
                    <a:pt x="1723392" y="44337"/>
                    <a:pt x="1723392" y="60340"/>
                  </a:cubicBezTo>
                  <a:lnTo>
                    <a:pt x="1723392" y="886230"/>
                  </a:lnTo>
                  <a:cubicBezTo>
                    <a:pt x="1723392" y="919555"/>
                    <a:pt x="1696376" y="946571"/>
                    <a:pt x="1663051" y="946571"/>
                  </a:cubicBezTo>
                  <a:lnTo>
                    <a:pt x="60340" y="946571"/>
                  </a:lnTo>
                  <a:cubicBezTo>
                    <a:pt x="44337" y="946571"/>
                    <a:pt x="28989" y="940213"/>
                    <a:pt x="17673" y="928897"/>
                  </a:cubicBezTo>
                  <a:cubicBezTo>
                    <a:pt x="6357" y="917581"/>
                    <a:pt x="0" y="902233"/>
                    <a:pt x="0" y="886230"/>
                  </a:cubicBezTo>
                  <a:lnTo>
                    <a:pt x="0" y="60340"/>
                  </a:lnTo>
                  <a:cubicBezTo>
                    <a:pt x="0" y="44337"/>
                    <a:pt x="6357" y="28989"/>
                    <a:pt x="17673" y="17673"/>
                  </a:cubicBezTo>
                  <a:cubicBezTo>
                    <a:pt x="28989" y="6357"/>
                    <a:pt x="44337" y="0"/>
                    <a:pt x="60340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7BFECCED-FFE2-6E03-F713-0C92F1A92440}"/>
                </a:ext>
              </a:extLst>
            </p:cNvPr>
            <p:cNvSpPr txBox="1"/>
            <p:nvPr/>
          </p:nvSpPr>
          <p:spPr>
            <a:xfrm>
              <a:off x="0" y="-38100"/>
              <a:ext cx="1723392" cy="9846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2BDCAA78-4A89-3AE4-E6D3-365F94CAED80}"/>
              </a:ext>
            </a:extLst>
          </p:cNvPr>
          <p:cNvSpPr txBox="1"/>
          <p:nvPr/>
        </p:nvSpPr>
        <p:spPr>
          <a:xfrm>
            <a:off x="1698662" y="506637"/>
            <a:ext cx="11331538" cy="17947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050"/>
              </a:lnSpc>
            </a:pPr>
            <a:r>
              <a:rPr lang="en-US" sz="8000" b="1" dirty="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Bibliography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5EACAD-B674-91C5-9AC2-B3431E5128A4}"/>
              </a:ext>
            </a:extLst>
          </p:cNvPr>
          <p:cNvSpPr txBox="1"/>
          <p:nvPr/>
        </p:nvSpPr>
        <p:spPr>
          <a:xfrm>
            <a:off x="645837" y="2574002"/>
            <a:ext cx="16996325" cy="7094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9080" lvl="1" indent="-457200">
              <a:lnSpc>
                <a:spcPts val="2568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Castelli Lluch, C. D., &amp; Tallarico, A. (2019). </a:t>
            </a:r>
            <a:r>
              <a:rPr lang="en-US" sz="2400" dirty="0" err="1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BlockGuitars</a:t>
            </a: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: </a:t>
            </a:r>
            <a:r>
              <a:rPr lang="en-US" sz="2400" dirty="0" err="1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Herramienta</a:t>
            </a: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 para las </a:t>
            </a:r>
            <a:r>
              <a:rPr lang="en-US" sz="2400" dirty="0" err="1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transacciones</a:t>
            </a: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 de </a:t>
            </a:r>
            <a:r>
              <a:rPr lang="en-US" sz="2400" dirty="0" err="1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instrumentos</a:t>
            </a: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 musicales </a:t>
            </a:r>
            <a:r>
              <a:rPr lang="en-US" sz="2400" dirty="0" err="1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mediante</a:t>
            </a: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 blockchain [Undergraduate thesis, Universidad Nacional de La Plata]. SEDICI. </a:t>
            </a: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  <a:hlinkClick r:id="rId4"/>
              </a:rPr>
              <a:t>https://sedici.unlp.edu.ar/handle/10915/119581</a:t>
            </a: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Alegreya Sans SC"/>
              <a:cs typeface="Alegreya Sans SC"/>
              <a:sym typeface="Alegreya Sans SC"/>
            </a:endParaRPr>
          </a:p>
          <a:p>
            <a:pPr marL="259080" lvl="1" indent="-457200">
              <a:lnSpc>
                <a:spcPts val="2568"/>
              </a:lnSpc>
              <a:spcBef>
                <a:spcPct val="0"/>
              </a:spcBef>
            </a:pP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Alegreya Sans SC"/>
              <a:cs typeface="Alegreya Sans SC"/>
              <a:sym typeface="Alegreya Sans SC"/>
            </a:endParaRPr>
          </a:p>
          <a:p>
            <a:pPr marL="259080" lvl="1" indent="-457200">
              <a:lnSpc>
                <a:spcPts val="2568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DigitalOcean</a:t>
            </a: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. (n.d.). Understanding the SSH encryption and connection process. </a:t>
            </a: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  <a:hlinkClick r:id="rId5"/>
              </a:rPr>
              <a:t>https://www.digitalocean.com/community/tutorials/understanding-the-ssh-encryption-and-connection-process</a:t>
            </a: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Alegreya Sans SC"/>
              <a:cs typeface="Alegreya Sans SC"/>
              <a:sym typeface="Alegreya Sans SC"/>
            </a:endParaRPr>
          </a:p>
          <a:p>
            <a:pPr marL="259080" lvl="1" indent="-457200">
              <a:lnSpc>
                <a:spcPts val="2568"/>
              </a:lnSpc>
              <a:spcBef>
                <a:spcPct val="0"/>
              </a:spcBef>
            </a:pP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Alegreya Sans SC"/>
              <a:cs typeface="Alegreya Sans SC"/>
              <a:sym typeface="Alegreya Sans SC"/>
            </a:endParaRPr>
          </a:p>
          <a:p>
            <a:pPr marL="259080" lvl="1" indent="-457200">
              <a:lnSpc>
                <a:spcPts val="2568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GeeksforGeeks</a:t>
            </a: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. (2025, July 23). RSA algorithm in cryptography. </a:t>
            </a: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  <a:hlinkClick r:id="rId6"/>
              </a:rPr>
              <a:t>https://www.geeksforgeeks.org/computer-networks/rsa-algorithm-cryptography/</a:t>
            </a: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Alegreya Sans SC"/>
              <a:cs typeface="Alegreya Sans SC"/>
              <a:sym typeface="Alegreya Sans SC"/>
            </a:endParaRPr>
          </a:p>
          <a:p>
            <a:pPr marL="259080" lvl="1" indent="-457200">
              <a:lnSpc>
                <a:spcPts val="2568"/>
              </a:lnSpc>
              <a:spcBef>
                <a:spcPct val="0"/>
              </a:spcBef>
            </a:pP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Alegreya Sans SC"/>
              <a:cs typeface="Alegreya Sans SC"/>
              <a:sym typeface="Alegreya Sans SC"/>
            </a:endParaRPr>
          </a:p>
          <a:p>
            <a:pPr marL="259080" lvl="1" indent="-457200">
              <a:lnSpc>
                <a:spcPts val="2568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Ireland, D. (n.d.). RSA algorithm. DI Management Services Pty Limited. </a:t>
            </a: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  <a:hlinkClick r:id="rId7"/>
              </a:rPr>
              <a:t>https://di-mgt.com.au/rsa_alg.html</a:t>
            </a: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Alegreya Sans SC"/>
              <a:cs typeface="Alegreya Sans SC"/>
              <a:sym typeface="Alegreya Sans SC"/>
            </a:endParaRPr>
          </a:p>
          <a:p>
            <a:pPr marL="259080" lvl="1" indent="-457200">
              <a:lnSpc>
                <a:spcPts val="2568"/>
              </a:lnSpc>
              <a:spcBef>
                <a:spcPct val="0"/>
              </a:spcBef>
            </a:pP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Alegreya Sans SC"/>
              <a:cs typeface="Alegreya Sans SC"/>
              <a:sym typeface="Alegreya Sans SC"/>
            </a:endParaRPr>
          </a:p>
          <a:p>
            <a:pPr marL="259080" lvl="1" indent="-457200">
              <a:lnSpc>
                <a:spcPts val="2568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Lebeaux, B. (2026, September 17). Setting the record straight on quantum computing and RSA encryption. RSA. </a:t>
            </a: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  <a:hlinkClick r:id="rId8"/>
              </a:rPr>
              <a:t>https://www.rsa.com/resources/blog/zero-trust/setting-the-record-straight-on-quantum-computing-and-rsa-encryption/</a:t>
            </a: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Alegreya Sans SC"/>
              <a:cs typeface="Alegreya Sans SC"/>
              <a:sym typeface="Alegreya Sans SC"/>
            </a:endParaRPr>
          </a:p>
          <a:p>
            <a:pPr marL="259080" lvl="1" indent="-457200">
              <a:lnSpc>
                <a:spcPts val="2568"/>
              </a:lnSpc>
              <a:spcBef>
                <a:spcPct val="0"/>
              </a:spcBef>
            </a:pP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Alegreya Sans SC"/>
              <a:cs typeface="Alegreya Sans SC"/>
              <a:sym typeface="Alegreya Sans SC"/>
            </a:endParaRPr>
          </a:p>
          <a:p>
            <a:pPr marL="259080" lvl="1" indent="-457200">
              <a:lnSpc>
                <a:spcPts val="2568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Moody, D., </a:t>
            </a:r>
            <a:r>
              <a:rPr lang="en-US" sz="2400" dirty="0" err="1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Perlner</a:t>
            </a: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, R., Regenscheid, A., Robinson, A., &amp; Cooper, D. (2024). Transition to post-quantum cryptography standards (NIST IR 8547, Initial Public Draft). National Institute of Standards and Technology. </a:t>
            </a: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  <a:hlinkClick r:id="rId9"/>
              </a:rPr>
              <a:t>https://doi.org/10.6028/NIST.IR.8547.ipd</a:t>
            </a: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Alegreya Sans SC"/>
              <a:cs typeface="Alegreya Sans SC"/>
              <a:sym typeface="Alegreya Sans SC"/>
            </a:endParaRPr>
          </a:p>
          <a:p>
            <a:pPr marL="259080" lvl="1" indent="-457200">
              <a:lnSpc>
                <a:spcPts val="2568"/>
              </a:lnSpc>
              <a:spcBef>
                <a:spcPct val="0"/>
              </a:spcBef>
            </a:pP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Alegreya Sans SC"/>
              <a:cs typeface="Alegreya Sans SC"/>
              <a:sym typeface="Alegreya Sans SC"/>
            </a:endParaRPr>
          </a:p>
          <a:p>
            <a:pPr marL="259080" lvl="1" indent="-457200">
              <a:lnSpc>
                <a:spcPts val="2568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PreScouter</a:t>
            </a: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. (2022). Quantum computing and cybersecurity: Preparing for post-quantum cryptography [Report]. </a:t>
            </a: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  <a:hlinkClick r:id="rId10"/>
              </a:rPr>
              <a:t>https://pswordpress-production.s3.amazonaws.com/2022/04/Quantum-Computing-and-Cybersecurity_-Preparing-for-Post-Quantum-Cryptography-PreScouter.pdf</a:t>
            </a: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Alegreya Sans SC"/>
              <a:cs typeface="Alegreya Sans SC"/>
              <a:sym typeface="Alegreya Sans SC"/>
            </a:endParaRPr>
          </a:p>
          <a:p>
            <a:pPr marL="259080" lvl="1" indent="-457200">
              <a:lnSpc>
                <a:spcPts val="2568"/>
              </a:lnSpc>
              <a:spcBef>
                <a:spcPct val="0"/>
              </a:spcBef>
            </a:pP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Alegreya Sans SC"/>
              <a:cs typeface="Alegreya Sans SC"/>
              <a:sym typeface="Alegreya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505744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>
            <a:off x="14209837" y="-1905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2" name="Freeform 2"/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/>
          <p:cNvSpPr txBox="1"/>
          <p:nvPr/>
        </p:nvSpPr>
        <p:spPr>
          <a:xfrm>
            <a:off x="1698662" y="506637"/>
            <a:ext cx="11331538" cy="17947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050"/>
              </a:lnSpc>
            </a:pPr>
            <a:r>
              <a:rPr lang="en-US" sz="8000" b="1" dirty="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Bibliography</a:t>
            </a:r>
          </a:p>
        </p:txBody>
      </p:sp>
      <p:grpSp>
        <p:nvGrpSpPr>
          <p:cNvPr id="11" name="Group 3">
            <a:extLst>
              <a:ext uri="{FF2B5EF4-FFF2-40B4-BE49-F238E27FC236}">
                <a16:creationId xmlns:a16="http://schemas.microsoft.com/office/drawing/2014/main" id="{1E2B1ABA-5C13-0820-845E-6CCCD1A8B5BE}"/>
              </a:ext>
            </a:extLst>
          </p:cNvPr>
          <p:cNvGrpSpPr/>
          <p:nvPr/>
        </p:nvGrpSpPr>
        <p:grpSpPr>
          <a:xfrm>
            <a:off x="223495" y="1943100"/>
            <a:ext cx="17841010" cy="7467600"/>
            <a:chOff x="0" y="-38100"/>
            <a:chExt cx="1723392" cy="98467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F7D31518-F938-2298-79A9-09D3F27ADE1C}"/>
                </a:ext>
              </a:extLst>
            </p:cNvPr>
            <p:cNvSpPr/>
            <p:nvPr/>
          </p:nvSpPr>
          <p:spPr>
            <a:xfrm>
              <a:off x="0" y="0"/>
              <a:ext cx="1723392" cy="946571"/>
            </a:xfrm>
            <a:custGeom>
              <a:avLst/>
              <a:gdLst/>
              <a:ahLst/>
              <a:cxnLst/>
              <a:rect l="l" t="t" r="r" b="b"/>
              <a:pathLst>
                <a:path w="1723392" h="946571">
                  <a:moveTo>
                    <a:pt x="60340" y="0"/>
                  </a:moveTo>
                  <a:lnTo>
                    <a:pt x="1663051" y="0"/>
                  </a:lnTo>
                  <a:cubicBezTo>
                    <a:pt x="1679054" y="0"/>
                    <a:pt x="1694402" y="6357"/>
                    <a:pt x="1705718" y="17673"/>
                  </a:cubicBezTo>
                  <a:cubicBezTo>
                    <a:pt x="1717034" y="28989"/>
                    <a:pt x="1723392" y="44337"/>
                    <a:pt x="1723392" y="60340"/>
                  </a:cubicBezTo>
                  <a:lnTo>
                    <a:pt x="1723392" y="886230"/>
                  </a:lnTo>
                  <a:cubicBezTo>
                    <a:pt x="1723392" y="919555"/>
                    <a:pt x="1696376" y="946571"/>
                    <a:pt x="1663051" y="946571"/>
                  </a:cubicBezTo>
                  <a:lnTo>
                    <a:pt x="60340" y="946571"/>
                  </a:lnTo>
                  <a:cubicBezTo>
                    <a:pt x="44337" y="946571"/>
                    <a:pt x="28989" y="940213"/>
                    <a:pt x="17673" y="928897"/>
                  </a:cubicBezTo>
                  <a:cubicBezTo>
                    <a:pt x="6357" y="917581"/>
                    <a:pt x="0" y="902233"/>
                    <a:pt x="0" y="886230"/>
                  </a:cubicBezTo>
                  <a:lnTo>
                    <a:pt x="0" y="60340"/>
                  </a:lnTo>
                  <a:cubicBezTo>
                    <a:pt x="0" y="44337"/>
                    <a:pt x="6357" y="28989"/>
                    <a:pt x="17673" y="17673"/>
                  </a:cubicBezTo>
                  <a:cubicBezTo>
                    <a:pt x="28989" y="6357"/>
                    <a:pt x="44337" y="0"/>
                    <a:pt x="60340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TextBox 5">
              <a:extLst>
                <a:ext uri="{FF2B5EF4-FFF2-40B4-BE49-F238E27FC236}">
                  <a16:creationId xmlns:a16="http://schemas.microsoft.com/office/drawing/2014/main" id="{9257CC23-25D3-54A3-0FFB-529C6CA138D8}"/>
                </a:ext>
              </a:extLst>
            </p:cNvPr>
            <p:cNvSpPr txBox="1"/>
            <p:nvPr/>
          </p:nvSpPr>
          <p:spPr>
            <a:xfrm>
              <a:off x="0" y="-38100"/>
              <a:ext cx="1723392" cy="9846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B15FF4D-AADA-E763-8AD5-5FD749A0B297}"/>
              </a:ext>
            </a:extLst>
          </p:cNvPr>
          <p:cNvSpPr txBox="1"/>
          <p:nvPr/>
        </p:nvSpPr>
        <p:spPr>
          <a:xfrm>
            <a:off x="665621" y="2751427"/>
            <a:ext cx="17398884" cy="4760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9080" lvl="1" indent="-457200">
              <a:lnSpc>
                <a:spcPts val="2568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Rescorla, E. (2018). The Transport Layer Security (TLS) Protocol Version 1.3 (RFC 8446). Internet Engineering Task Force. </a:t>
            </a: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  <a:hlinkClick r:id="rId5"/>
              </a:rPr>
              <a:t>https://doi.org/10.17487/RFC8446</a:t>
            </a: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Alegreya Sans SC"/>
              <a:cs typeface="Alegreya Sans SC"/>
              <a:sym typeface="Alegreya Sans SC"/>
            </a:endParaRPr>
          </a:p>
          <a:p>
            <a:pPr marL="259080" lvl="1" indent="-457200">
              <a:lnSpc>
                <a:spcPts val="2568"/>
              </a:lnSpc>
              <a:spcBef>
                <a:spcPct val="0"/>
              </a:spcBef>
            </a:pP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Alegreya Sans SC"/>
              <a:cs typeface="Alegreya Sans SC"/>
              <a:sym typeface="Alegreya Sans SC"/>
            </a:endParaRPr>
          </a:p>
          <a:p>
            <a:pPr marL="259080" lvl="1" indent="-457200">
              <a:lnSpc>
                <a:spcPts val="2568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RSA Community. (n.d.). RSA cryptography and NIST guidance. </a:t>
            </a: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  <a:hlinkClick r:id="rId6"/>
              </a:rPr>
              <a:t>https://community.rsa.com/s/article/RSA-cryptography-and-NIST-guidance</a:t>
            </a: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Alegreya Sans SC"/>
              <a:cs typeface="Alegreya Sans SC"/>
              <a:sym typeface="Alegreya Sans SC"/>
            </a:endParaRPr>
          </a:p>
          <a:p>
            <a:pPr marL="259080" lvl="1" indent="-457200">
              <a:lnSpc>
                <a:spcPts val="2568"/>
              </a:lnSpc>
              <a:spcBef>
                <a:spcPct val="0"/>
              </a:spcBef>
            </a:pP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Alegreya Sans SC"/>
              <a:cs typeface="Alegreya Sans SC"/>
              <a:sym typeface="Alegreya Sans SC"/>
            </a:endParaRPr>
          </a:p>
          <a:p>
            <a:pPr marL="259080" lvl="1" indent="-457200">
              <a:lnSpc>
                <a:spcPts val="2568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Simplilearn. (n.d.). Digital signature algorithm (DSA): A complete guide. </a:t>
            </a: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  <a:hlinkClick r:id="rId7"/>
              </a:rPr>
              <a:t>https://www.simplilearn.com/tutorials/cryptography-tutorial/digital-signature-algorithm</a:t>
            </a: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Alegreya Sans SC"/>
              <a:cs typeface="Alegreya Sans SC"/>
              <a:sym typeface="Alegreya Sans SC"/>
            </a:endParaRPr>
          </a:p>
          <a:p>
            <a:pPr marL="259080" lvl="1" indent="-457200">
              <a:lnSpc>
                <a:spcPts val="2568"/>
              </a:lnSpc>
              <a:spcBef>
                <a:spcPct val="0"/>
              </a:spcBef>
            </a:pP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Alegreya Sans SC"/>
              <a:cs typeface="Alegreya Sans SC"/>
              <a:sym typeface="Alegreya Sans SC"/>
            </a:endParaRPr>
          </a:p>
          <a:p>
            <a:pPr marL="259080" lvl="1" indent="-457200">
              <a:lnSpc>
                <a:spcPts val="2568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Transitioning to PQC [Presentation slides]. (2024). Minority Serving-Cyberinfrastructure Consortium. </a:t>
            </a: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  <a:hlinkClick r:id="rId8"/>
              </a:rPr>
              <a:t>https://ms-cc.org/wp-content/uploads/2024/05/Transitioning-to-PQC.pdf</a:t>
            </a: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Alegreya Sans SC"/>
              <a:cs typeface="Alegreya Sans SC"/>
              <a:sym typeface="Alegreya Sans SC"/>
            </a:endParaRPr>
          </a:p>
          <a:p>
            <a:pPr marL="259080" lvl="1" indent="-457200">
              <a:lnSpc>
                <a:spcPts val="2568"/>
              </a:lnSpc>
              <a:spcBef>
                <a:spcPct val="0"/>
              </a:spcBef>
            </a:pP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Alegreya Sans SC"/>
              <a:cs typeface="Alegreya Sans SC"/>
              <a:sym typeface="Alegreya Sans SC"/>
            </a:endParaRPr>
          </a:p>
          <a:p>
            <a:pPr marL="259080" lvl="1" indent="-457200">
              <a:lnSpc>
                <a:spcPts val="2568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Tucker, A. (2024, September 30). RSA encryption: How the RSA algorithm works and why it matters. SecureW2. </a:t>
            </a: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  <a:hlinkClick r:id="rId9"/>
              </a:rPr>
              <a:t>https://securew2.com/blog/what-is-rsa-asymmetric-encryption</a:t>
            </a: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Alegreya Sans SC"/>
              <a:cs typeface="Alegreya Sans SC"/>
              <a:sym typeface="Alegreya Sans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2633</TotalTime>
  <Words>950</Words>
  <Application>Microsoft Macintosh PowerPoint</Application>
  <PresentationFormat>Custom</PresentationFormat>
  <Paragraphs>100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Calibri</vt:lpstr>
      <vt:lpstr>Alegreya Sans SC Bold</vt:lpstr>
      <vt:lpstr>Aptos</vt:lpstr>
      <vt:lpstr>Arial</vt:lpstr>
      <vt:lpstr>Alegreya Sans SC Medium</vt:lpstr>
      <vt:lpstr>Candara</vt:lpstr>
      <vt:lpstr>Alegreya Sans SC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White Modern Geometric Research Project Presentation</dc:title>
  <cp:lastModifiedBy>4148</cp:lastModifiedBy>
  <cp:revision>41</cp:revision>
  <dcterms:created xsi:type="dcterms:W3CDTF">2006-08-16T00:00:00Z</dcterms:created>
  <dcterms:modified xsi:type="dcterms:W3CDTF">2026-10-19T04:14:37Z</dcterms:modified>
  <dc:identifier>DAHX2Wd_EK8</dc:identifier>
</cp:coreProperties>
</file>