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org&amp;utm_campaign=index&amp;utm_content=original" ContentType="image/pn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64" r:id="rId4"/>
    <p:sldId id="258" r:id="rId5"/>
    <p:sldId id="259" r:id="rId6"/>
    <p:sldId id="260" r:id="rId7"/>
    <p:sldId id="261" r:id="rId8"/>
    <p:sldId id="262" r:id="rId9"/>
    <p:sldId id="263" r:id="rId10"/>
  </p:sldIdLst>
  <p:sldSz cx="18288000" cy="10287000"/>
  <p:notesSz cx="6858000" cy="9144000"/>
  <p:embeddedFontLst>
    <p:embeddedFont>
      <p:font typeface="Alegreya Sans SC" pitchFamily="2" charset="0"/>
      <p:regular r:id="rId12"/>
    </p:embeddedFont>
    <p:embeddedFont>
      <p:font typeface="Alegreya Sans SC Bold" pitchFamily="2" charset="0"/>
      <p:regular r:id="rId13"/>
      <p:bold r:id="rId14"/>
    </p:embeddedFont>
    <p:embeddedFont>
      <p:font typeface="Alegreya Sans SC Medium" pitchFamily="2" charset="0"/>
      <p:regular r:id="rId15"/>
    </p:embeddedFont>
    <p:embeddedFont>
      <p:font typeface="Candara" panose="020E0502030303020204" pitchFamily="34" charset="0"/>
      <p:regular r:id="rId16"/>
      <p:bold r:id="rId17"/>
      <p:italic r:id="rId18"/>
      <p:boldItalic r:id="rId1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534" autoAdjust="0"/>
    <p:restoredTop sz="94606" autoAdjust="0"/>
  </p:normalViewPr>
  <p:slideViewPr>
    <p:cSldViewPr>
      <p:cViewPr>
        <p:scale>
          <a:sx n="66" d="100"/>
          <a:sy n="66" d="100"/>
        </p:scale>
        <p:origin x="1272" y="6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font" Target="fonts/font2.fntdata"/><Relationship Id="rId18" Type="http://schemas.openxmlformats.org/officeDocument/2006/relationships/font" Target="fonts/font7.fntdata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font" Target="fonts/font1.fntdata"/><Relationship Id="rId17" Type="http://schemas.openxmlformats.org/officeDocument/2006/relationships/font" Target="fonts/font6.fntdata"/><Relationship Id="rId2" Type="http://schemas.openxmlformats.org/officeDocument/2006/relationships/slide" Target="slides/slide1.xml"/><Relationship Id="rId16" Type="http://schemas.openxmlformats.org/officeDocument/2006/relationships/font" Target="fonts/font5.fntdata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font" Target="fonts/font4.fntdata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font" Target="fonts/font8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font" Target="fonts/font3.fntdata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4BC2B38-408A-8647-991A-B19F79294DCD}" type="datetimeFigureOut">
              <a:rPr lang="en-KR" smtClean="0"/>
              <a:t>10/17/26</a:t>
            </a:fld>
            <a:endParaRPr lang="en-K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K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K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K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D023C59-4258-E346-BE1D-19B0B04B97D9}" type="slidenum">
              <a:rPr lang="en-KR" smtClean="0"/>
              <a:t>‹#›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4198632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5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0751394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K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D023C59-4258-E346-BE1D-19B0B04B97D9}" type="slidenum">
              <a:rPr lang="en-KR" smtClean="0"/>
              <a:t>7</a:t>
            </a:fld>
            <a:endParaRPr lang="en-KR"/>
          </a:p>
        </p:txBody>
      </p:sp>
    </p:spTree>
    <p:extLst>
      <p:ext uri="{BB962C8B-B14F-4D97-AF65-F5344CB8AC3E}">
        <p14:creationId xmlns:p14="http://schemas.microsoft.com/office/powerpoint/2010/main" val="365531658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10/16/26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4.org&amp;utm_campaign=index&amp;utm_content=original"/><Relationship Id="rId4" Type="http://schemas.openxmlformats.org/officeDocument/2006/relationships/image" Target="../media/image3.sv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3.sv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3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8.png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3.svg"/><Relationship Id="rId4" Type="http://schemas.openxmlformats.org/officeDocument/2006/relationships/image" Target="../media/image2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0.PNG"/><Relationship Id="rId4" Type="http://schemas.openxmlformats.org/officeDocument/2006/relationships/image" Target="../media/image3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hyperlink" Target="https://community.rsa.com/s/article/RSA-cryptography-and-NIST-guidance" TargetMode="External"/><Relationship Id="rId3" Type="http://schemas.openxmlformats.org/officeDocument/2006/relationships/image" Target="../media/image3.svg"/><Relationship Id="rId7" Type="http://schemas.openxmlformats.org/officeDocument/2006/relationships/hyperlink" Target="https://www.rsa.com/resources/blog/zero-trust/setting-the-record-straight-on-quantum-computing-and-rsa-encryption/" TargetMode="External"/><Relationship Id="rId2" Type="http://schemas.openxmlformats.org/officeDocument/2006/relationships/image" Target="../media/image2.svg"/><Relationship Id="rId1" Type="http://schemas.openxmlformats.org/officeDocument/2006/relationships/slideLayout" Target="../slideLayouts/slideLayout7.xml"/><Relationship Id="rId6" Type="http://schemas.openxmlformats.org/officeDocument/2006/relationships/hyperlink" Target="https://www.geeksforgeeks.org/computer-networks/rsa-algorithm-cryptography/" TargetMode="External"/><Relationship Id="rId11" Type="http://schemas.openxmlformats.org/officeDocument/2006/relationships/hyperlink" Target="https://doi.org/10.17487/RFC8446" TargetMode="External"/><Relationship Id="rId5" Type="http://schemas.openxmlformats.org/officeDocument/2006/relationships/hyperlink" Target="https://di-mgt.com.au/rsa_alg.html" TargetMode="External"/><Relationship Id="rId10" Type="http://schemas.openxmlformats.org/officeDocument/2006/relationships/hyperlink" Target="https://securew2.com/blog/what-is-rsa-asymmetric-encryption" TargetMode="External"/><Relationship Id="rId4" Type="http://schemas.openxmlformats.org/officeDocument/2006/relationships/hyperlink" Target="https://www.digitalocean.com/community/tutorials/understanding-the-ssh-encryption-and-connection-process" TargetMode="External"/><Relationship Id="rId9" Type="http://schemas.openxmlformats.org/officeDocument/2006/relationships/hyperlink" Target="https://doi.org/10.6028/NIST.IR.8547.ipd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000500" y="-4000500"/>
            <a:ext cx="10287000" cy="18288000"/>
          </a:xfrm>
          <a:custGeom>
            <a:avLst/>
            <a:gdLst/>
            <a:ahLst/>
            <a:cxnLst/>
            <a:rect l="l" t="t" r="r" b="b"/>
            <a:pathLst>
              <a:path w="10287000" h="18288000">
                <a:moveTo>
                  <a:pt x="0" y="0"/>
                </a:moveTo>
                <a:lnTo>
                  <a:pt x="10287000" y="0"/>
                </a:lnTo>
                <a:lnTo>
                  <a:pt x="10287000" y="18288000"/>
                </a:lnTo>
                <a:lnTo>
                  <a:pt x="0" y="182880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TextBox 7"/>
          <p:cNvSpPr txBox="1"/>
          <p:nvPr/>
        </p:nvSpPr>
        <p:spPr>
          <a:xfrm>
            <a:off x="2008186" y="2359052"/>
            <a:ext cx="9498014" cy="412933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</a:t>
            </a:r>
          </a:p>
          <a:p>
            <a:pPr algn="l">
              <a:lnSpc>
                <a:spcPts val="16050"/>
              </a:lnSpc>
            </a:pPr>
            <a:r>
              <a:rPr lang="en-US" sz="15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Encryption</a:t>
            </a:r>
          </a:p>
        </p:txBody>
      </p:sp>
      <p:sp>
        <p:nvSpPr>
          <p:cNvPr id="8" name="TextBox 8"/>
          <p:cNvSpPr txBox="1"/>
          <p:nvPr/>
        </p:nvSpPr>
        <p:spPr>
          <a:xfrm>
            <a:off x="2398219" y="7674134"/>
            <a:ext cx="13440636" cy="199439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Adrian Stanciu - </a:t>
            </a:r>
            <a:r>
              <a:rPr lang="en-CA" sz="3240" dirty="0">
                <a:latin typeface="Candara" panose="020E0502030303020204" pitchFamily="34" charset="0"/>
              </a:rPr>
              <a:t>Seneca Student ID: 111272266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Muffin Aybar - </a:t>
            </a:r>
            <a:r>
              <a:rPr lang="en-CA" sz="3240" dirty="0">
                <a:latin typeface="Candara" panose="020E0502030303020204" pitchFamily="34" charset="0"/>
              </a:rPr>
              <a:t>Seneca Student ID: 107362253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Summer Chang - </a:t>
            </a:r>
            <a:r>
              <a:rPr lang="en-CA" sz="3240" dirty="0">
                <a:latin typeface="Candara" panose="020E0502030303020204" pitchFamily="34" charset="0"/>
              </a:rPr>
              <a:t>Seneca Student ID: 148482243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  <a:p>
            <a:pPr>
              <a:lnSpc>
                <a:spcPct val="100000"/>
              </a:lnSpc>
              <a:spcBef>
                <a:spcPct val="0"/>
              </a:spcBef>
            </a:pPr>
            <a:r>
              <a:rPr lang="en-US" sz="3240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Ignacio Morales Hermosilla - </a:t>
            </a:r>
            <a:r>
              <a:rPr lang="en-CA" sz="3240" dirty="0">
                <a:latin typeface="Candara" panose="020E0502030303020204" pitchFamily="34" charset="0"/>
              </a:rPr>
              <a:t>Seneca Student ID: 122079262</a:t>
            </a:r>
            <a:endParaRPr lang="en-US" sz="3240" dirty="0">
              <a:solidFill>
                <a:srgbClr val="000000"/>
              </a:solidFill>
              <a:latin typeface="Candara" panose="020E0502030303020204" pitchFamily="34" charset="0"/>
              <a:ea typeface="Aileron Bold"/>
              <a:cs typeface="Aileron Bold"/>
              <a:sym typeface="Aileron Bold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C0B0D66-EEEB-3EF4-58A4-DBD95C30DB6C}"/>
              </a:ext>
            </a:extLst>
          </p:cNvPr>
          <p:cNvSpPr txBox="1"/>
          <p:nvPr/>
        </p:nvSpPr>
        <p:spPr>
          <a:xfrm>
            <a:off x="1403784" y="6566010"/>
            <a:ext cx="4140184" cy="6829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ts val="4992"/>
              </a:lnSpc>
              <a:spcBef>
                <a:spcPct val="0"/>
              </a:spcBef>
            </a:pPr>
            <a:r>
              <a:rPr lang="en-US" sz="3241" dirty="0">
                <a:solidFill>
                  <a:srgbClr val="000000"/>
                </a:solidFill>
                <a:latin typeface="Candara" panose="020E0502030303020204" pitchFamily="34" charset="0"/>
                <a:ea typeface="Aileron Bold"/>
                <a:cs typeface="Aileron Bold"/>
                <a:sym typeface="Aileron Bold"/>
              </a:rPr>
              <a:t>CEP146 NBB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271890" y="3699244"/>
            <a:ext cx="9634110" cy="5887485"/>
            <a:chOff x="0" y="0"/>
            <a:chExt cx="2471118" cy="1675100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471119" cy="1675100"/>
            </a:xfrm>
            <a:custGeom>
              <a:avLst/>
              <a:gdLst/>
              <a:ahLst/>
              <a:cxnLst/>
              <a:rect l="l" t="t" r="r" b="b"/>
              <a:pathLst>
                <a:path w="2471119" h="1675100">
                  <a:moveTo>
                    <a:pt x="42082" y="0"/>
                  </a:moveTo>
                  <a:lnTo>
                    <a:pt x="2429036" y="0"/>
                  </a:lnTo>
                  <a:cubicBezTo>
                    <a:pt x="2440197" y="0"/>
                    <a:pt x="2450901" y="4434"/>
                    <a:pt x="2458793" y="12326"/>
                  </a:cubicBezTo>
                  <a:cubicBezTo>
                    <a:pt x="2466685" y="20218"/>
                    <a:pt x="2471119" y="30921"/>
                    <a:pt x="2471119" y="42082"/>
                  </a:cubicBezTo>
                  <a:lnTo>
                    <a:pt x="2471119" y="1633018"/>
                  </a:lnTo>
                  <a:cubicBezTo>
                    <a:pt x="2471119" y="1656260"/>
                    <a:pt x="2452278" y="1675100"/>
                    <a:pt x="2429036" y="1675100"/>
                  </a:cubicBezTo>
                  <a:lnTo>
                    <a:pt x="42082" y="1675100"/>
                  </a:lnTo>
                  <a:cubicBezTo>
                    <a:pt x="30921" y="1675100"/>
                    <a:pt x="20218" y="1670667"/>
                    <a:pt x="12326" y="1662775"/>
                  </a:cubicBezTo>
                  <a:cubicBezTo>
                    <a:pt x="4434" y="1654883"/>
                    <a:pt x="0" y="1644179"/>
                    <a:pt x="0" y="1633018"/>
                  </a:cubicBezTo>
                  <a:lnTo>
                    <a:pt x="0" y="42082"/>
                  </a:lnTo>
                  <a:cubicBezTo>
                    <a:pt x="0" y="30921"/>
                    <a:pt x="4434" y="20218"/>
                    <a:pt x="12326" y="12326"/>
                  </a:cubicBezTo>
                  <a:cubicBezTo>
                    <a:pt x="20218" y="4434"/>
                    <a:pt x="30921" y="0"/>
                    <a:pt x="4208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471118" cy="1713200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TextBox 11"/>
          <p:cNvSpPr txBox="1"/>
          <p:nvPr/>
        </p:nvSpPr>
        <p:spPr>
          <a:xfrm>
            <a:off x="2878299" y="700271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RSA Encryption Works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641898" y="3673088"/>
            <a:ext cx="9076264" cy="580588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RSA is an asymmetric encryption algorithm.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Uses two mathematically linked keys: public and private.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public key can be shared openly.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private key must remain secret.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sender encrypts data using the recipient's public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The recipient decrypts data using their private key. </a:t>
            </a:r>
          </a:p>
          <a:p>
            <a:pPr marL="342900" indent="-34290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Both parties can use their own key pairs for two-way communication.</a:t>
            </a:r>
          </a:p>
        </p:txBody>
      </p:sp>
      <p:pic>
        <p:nvPicPr>
          <p:cNvPr id="15" name="Picture 14" descr="File:Symmetric encryption.png - Wikimedia Commons">
            <a:extLst>
              <a:ext uri="{FF2B5EF4-FFF2-40B4-BE49-F238E27FC236}">
                <a16:creationId xmlns:a16="http://schemas.microsoft.com/office/drawing/2014/main" id="{2EC436D7-0628-458B-1904-687A8260830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39400" y="3944580"/>
            <a:ext cx="9634114" cy="5397743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4EF9FA-5DEC-3D84-6AF4-6378E7F056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>
            <a:extLst>
              <a:ext uri="{FF2B5EF4-FFF2-40B4-BE49-F238E27FC236}">
                <a16:creationId xmlns:a16="http://schemas.microsoft.com/office/drawing/2014/main" id="{17C607F6-931B-4F83-1AAD-4D9E900AF928}"/>
              </a:ext>
            </a:extLst>
          </p:cNvPr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 dirty="0"/>
          </a:p>
        </p:txBody>
      </p:sp>
      <p:sp>
        <p:nvSpPr>
          <p:cNvPr id="3" name="Freeform 3">
            <a:extLst>
              <a:ext uri="{FF2B5EF4-FFF2-40B4-BE49-F238E27FC236}">
                <a16:creationId xmlns:a16="http://schemas.microsoft.com/office/drawing/2014/main" id="{0BB91FF3-1A9F-3424-8AFD-6525743E80AA}"/>
              </a:ext>
            </a:extLst>
          </p:cNvPr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>
            <a:extLst>
              <a:ext uri="{FF2B5EF4-FFF2-40B4-BE49-F238E27FC236}">
                <a16:creationId xmlns:a16="http://schemas.microsoft.com/office/drawing/2014/main" id="{8CD3F829-4632-13EE-A775-73F958E4E303}"/>
              </a:ext>
            </a:extLst>
          </p:cNvPr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>
            <a:extLst>
              <a:ext uri="{FF2B5EF4-FFF2-40B4-BE49-F238E27FC236}">
                <a16:creationId xmlns:a16="http://schemas.microsoft.com/office/drawing/2014/main" id="{5DE8145F-90C6-1A73-7399-5FC9087E243F}"/>
              </a:ext>
            </a:extLst>
          </p:cNvPr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>
            <a:extLst>
              <a:ext uri="{FF2B5EF4-FFF2-40B4-BE49-F238E27FC236}">
                <a16:creationId xmlns:a16="http://schemas.microsoft.com/office/drawing/2014/main" id="{165EF9A0-40A3-EED0-1F32-009AE1855E5C}"/>
              </a:ext>
            </a:extLst>
          </p:cNvPr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CB349583-F6FC-C6CE-BEBE-AF80E41F0E04}"/>
              </a:ext>
            </a:extLst>
          </p:cNvPr>
          <p:cNvSpPr txBox="1"/>
          <p:nvPr/>
        </p:nvSpPr>
        <p:spPr>
          <a:xfrm>
            <a:off x="2878299" y="479347"/>
            <a:ext cx="14166815" cy="11028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How They're Used and Made</a:t>
            </a:r>
          </a:p>
        </p:txBody>
      </p:sp>
      <p:pic>
        <p:nvPicPr>
          <p:cNvPr id="14" name="Picture 13" descr="RSA algorithm structure | Download Scientific Diagram">
            <a:extLst>
              <a:ext uri="{FF2B5EF4-FFF2-40B4-BE49-F238E27FC236}">
                <a16:creationId xmlns:a16="http://schemas.microsoft.com/office/drawing/2014/main" id="{0FEBD21A-36A9-22E1-023F-65F132B73E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6033" y="2181099"/>
            <a:ext cx="12511345" cy="7507016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203321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3" name="Group 3"/>
          <p:cNvGrpSpPr/>
          <p:nvPr/>
        </p:nvGrpSpPr>
        <p:grpSpPr>
          <a:xfrm>
            <a:off x="560481" y="2896139"/>
            <a:ext cx="13280379" cy="2971139"/>
            <a:chOff x="0" y="-38100"/>
            <a:chExt cx="1723392" cy="98467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6" name="Freeform 6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7" name="Freeform 7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8" name="Group 8"/>
          <p:cNvGrpSpPr/>
          <p:nvPr/>
        </p:nvGrpSpPr>
        <p:grpSpPr>
          <a:xfrm>
            <a:off x="560482" y="6055937"/>
            <a:ext cx="7745320" cy="4538325"/>
            <a:chOff x="-545944" y="-118100"/>
            <a:chExt cx="2089938" cy="851742"/>
          </a:xfrm>
        </p:grpSpPr>
        <p:sp>
          <p:nvSpPr>
            <p:cNvPr id="9" name="Freeform 9"/>
            <p:cNvSpPr/>
            <p:nvPr/>
          </p:nvSpPr>
          <p:spPr>
            <a:xfrm>
              <a:off x="-545944" y="-118100"/>
              <a:ext cx="2089938" cy="733642"/>
            </a:xfrm>
            <a:custGeom>
              <a:avLst/>
              <a:gdLst/>
              <a:ahLst/>
              <a:cxnLst/>
              <a:rect l="l" t="t" r="r" b="b"/>
              <a:pathLst>
                <a:path w="1482540" h="733642">
                  <a:moveTo>
                    <a:pt x="70143" y="0"/>
                  </a:moveTo>
                  <a:lnTo>
                    <a:pt x="1412397" y="0"/>
                  </a:lnTo>
                  <a:cubicBezTo>
                    <a:pt x="1431000" y="0"/>
                    <a:pt x="1448841" y="7390"/>
                    <a:pt x="1461995" y="20544"/>
                  </a:cubicBezTo>
                  <a:cubicBezTo>
                    <a:pt x="1475150" y="33699"/>
                    <a:pt x="1482540" y="51540"/>
                    <a:pt x="1482540" y="70143"/>
                  </a:cubicBezTo>
                  <a:lnTo>
                    <a:pt x="1482540" y="663498"/>
                  </a:lnTo>
                  <a:cubicBezTo>
                    <a:pt x="1482540" y="702237"/>
                    <a:pt x="1451136" y="733642"/>
                    <a:pt x="1412397" y="733642"/>
                  </a:cubicBezTo>
                  <a:lnTo>
                    <a:pt x="70143" y="733642"/>
                  </a:lnTo>
                  <a:cubicBezTo>
                    <a:pt x="31404" y="733642"/>
                    <a:pt x="0" y="702237"/>
                    <a:pt x="0" y="663498"/>
                  </a:cubicBezTo>
                  <a:lnTo>
                    <a:pt x="0" y="70143"/>
                  </a:lnTo>
                  <a:cubicBezTo>
                    <a:pt x="0" y="31404"/>
                    <a:pt x="31404" y="0"/>
                    <a:pt x="70143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 dirty="0"/>
            </a:p>
          </p:txBody>
        </p:sp>
        <p:sp>
          <p:nvSpPr>
            <p:cNvPr id="10" name="TextBox 10"/>
            <p:cNvSpPr txBox="1"/>
            <p:nvPr/>
          </p:nvSpPr>
          <p:spPr>
            <a:xfrm>
              <a:off x="0" y="-38100"/>
              <a:ext cx="1482540" cy="77174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1" name="Freeform 11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6" name="TextBox 16"/>
          <p:cNvSpPr txBox="1"/>
          <p:nvPr/>
        </p:nvSpPr>
        <p:spPr>
          <a:xfrm>
            <a:off x="3781860" y="724241"/>
            <a:ext cx="11882914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RSA Key Generation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682355" y="3501261"/>
            <a:ext cx="13040781" cy="2112566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Generate two large random prime numbers: p and q.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n = p × q.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keys are commonly 2048 bits.)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4739155" y="3194000"/>
            <a:ext cx="4923029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1: Select Prime Numbers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682356" y="6661316"/>
            <a:ext cx="7501570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Euler's totient: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 = (p − 1)(q − 1).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Select public exponent e, usually 65537.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Ensure e is coprime with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key: (e, n).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1633499" y="6288596"/>
            <a:ext cx="5053353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2: Generate the Public Key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4618432" y="1503691"/>
            <a:ext cx="10209770" cy="1162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Public and Private Keys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F6C15EF3-6EFE-C1F9-C15D-38F80268CD8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t="7715"/>
          <a:stretch>
            <a:fillRect/>
          </a:stretch>
        </p:blipFill>
        <p:spPr>
          <a:xfrm>
            <a:off x="14068609" y="2008846"/>
            <a:ext cx="5833408" cy="8024050"/>
          </a:xfrm>
          <a:prstGeom prst="rect">
            <a:avLst/>
          </a:prstGeom>
          <a:effectLst>
            <a:outerShdw blurRad="254000" dist="381000" dir="3000000" algn="ctr" rotWithShape="0">
              <a:srgbClr val="000000">
                <a:alpha val="43137"/>
              </a:srgbClr>
            </a:outerShdw>
          </a:effectLst>
        </p:spPr>
      </p:pic>
      <p:grpSp>
        <p:nvGrpSpPr>
          <p:cNvPr id="12" name="Group 3">
            <a:extLst>
              <a:ext uri="{FF2B5EF4-FFF2-40B4-BE49-F238E27FC236}">
                <a16:creationId xmlns:a16="http://schemas.microsoft.com/office/drawing/2014/main" id="{68866EAC-F215-65DA-4278-9C60BCAF0CF0}"/>
              </a:ext>
            </a:extLst>
          </p:cNvPr>
          <p:cNvGrpSpPr/>
          <p:nvPr/>
        </p:nvGrpSpPr>
        <p:grpSpPr>
          <a:xfrm>
            <a:off x="8427675" y="5867278"/>
            <a:ext cx="5413186" cy="4097713"/>
            <a:chOff x="0" y="-38100"/>
            <a:chExt cx="1723392" cy="984671"/>
          </a:xfrm>
        </p:grpSpPr>
        <p:sp>
          <p:nvSpPr>
            <p:cNvPr id="13" name="Freeform 4">
              <a:extLst>
                <a:ext uri="{FF2B5EF4-FFF2-40B4-BE49-F238E27FC236}">
                  <a16:creationId xmlns:a16="http://schemas.microsoft.com/office/drawing/2014/main" id="{EEEE7404-DDFF-4B16-4520-49C57E70F3F3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4" name="TextBox 5">
              <a:extLst>
                <a:ext uri="{FF2B5EF4-FFF2-40B4-BE49-F238E27FC236}">
                  <a16:creationId xmlns:a16="http://schemas.microsoft.com/office/drawing/2014/main" id="{B3C0F820-E4EF-2FA5-0210-80C51003861E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4" name="TextBox 21">
            <a:extLst>
              <a:ext uri="{FF2B5EF4-FFF2-40B4-BE49-F238E27FC236}">
                <a16:creationId xmlns:a16="http://schemas.microsoft.com/office/drawing/2014/main" id="{A635CA25-8781-977F-C601-AA80CB155897}"/>
              </a:ext>
            </a:extLst>
          </p:cNvPr>
          <p:cNvSpPr txBox="1"/>
          <p:nvPr/>
        </p:nvSpPr>
        <p:spPr>
          <a:xfrm>
            <a:off x="8588249" y="6277015"/>
            <a:ext cx="513488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Step 3: Generate the Private Key</a:t>
            </a:r>
          </a:p>
        </p:txBody>
      </p:sp>
      <p:sp>
        <p:nvSpPr>
          <p:cNvPr id="32" name="TextBox 20">
            <a:extLst>
              <a:ext uri="{FF2B5EF4-FFF2-40B4-BE49-F238E27FC236}">
                <a16:creationId xmlns:a16="http://schemas.microsoft.com/office/drawing/2014/main" id="{5F380679-F7DE-BF14-7874-11785F7AAD5F}"/>
              </a:ext>
            </a:extLst>
          </p:cNvPr>
          <p:cNvSpPr txBox="1"/>
          <p:nvPr/>
        </p:nvSpPr>
        <p:spPr>
          <a:xfrm>
            <a:off x="8546654" y="6661316"/>
            <a:ext cx="5053353" cy="2851230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Calculate d as the modular inverse of e modulo </a:t>
            </a:r>
            <a:r>
              <a:rPr lang="el-GR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φ(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n). </a:t>
            </a:r>
          </a:p>
          <a:p>
            <a:pPr marL="518160" lvl="1" indent="-259080">
              <a:lnSpc>
                <a:spcPct val="20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Private key, in simplified mathematical notation: (d, n).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grpSp>
        <p:nvGrpSpPr>
          <p:cNvPr id="7" name="Group 7"/>
          <p:cNvGrpSpPr/>
          <p:nvPr/>
        </p:nvGrpSpPr>
        <p:grpSpPr>
          <a:xfrm>
            <a:off x="715008" y="3854792"/>
            <a:ext cx="8229600" cy="4855568"/>
            <a:chOff x="0" y="0"/>
            <a:chExt cx="2238372" cy="1281401"/>
          </a:xfrm>
        </p:grpSpPr>
        <p:sp>
          <p:nvSpPr>
            <p:cNvPr id="8" name="Freeform 8"/>
            <p:cNvSpPr/>
            <p:nvPr/>
          </p:nvSpPr>
          <p:spPr>
            <a:xfrm>
              <a:off x="0" y="0"/>
              <a:ext cx="2238372" cy="1281401"/>
            </a:xfrm>
            <a:custGeom>
              <a:avLst/>
              <a:gdLst/>
              <a:ahLst/>
              <a:cxnLst/>
              <a:rect l="l" t="t" r="r" b="b"/>
              <a:pathLst>
                <a:path w="2238372" h="1281401">
                  <a:moveTo>
                    <a:pt x="44792" y="0"/>
                  </a:moveTo>
                  <a:lnTo>
                    <a:pt x="2193580" y="0"/>
                  </a:lnTo>
                  <a:cubicBezTo>
                    <a:pt x="2218318" y="0"/>
                    <a:pt x="2238372" y="20054"/>
                    <a:pt x="2238372" y="44792"/>
                  </a:cubicBezTo>
                  <a:lnTo>
                    <a:pt x="2238372" y="1236609"/>
                  </a:lnTo>
                  <a:cubicBezTo>
                    <a:pt x="2238372" y="1248489"/>
                    <a:pt x="2233652" y="1259882"/>
                    <a:pt x="2225252" y="1268282"/>
                  </a:cubicBezTo>
                  <a:cubicBezTo>
                    <a:pt x="2216852" y="1276682"/>
                    <a:pt x="2205459" y="1281401"/>
                    <a:pt x="2193580" y="1281401"/>
                  </a:cubicBezTo>
                  <a:lnTo>
                    <a:pt x="44792" y="1281401"/>
                  </a:lnTo>
                  <a:cubicBezTo>
                    <a:pt x="20054" y="1281401"/>
                    <a:pt x="0" y="1261347"/>
                    <a:pt x="0" y="1236609"/>
                  </a:cubicBezTo>
                  <a:lnTo>
                    <a:pt x="0" y="44792"/>
                  </a:lnTo>
                  <a:cubicBezTo>
                    <a:pt x="0" y="20054"/>
                    <a:pt x="20054" y="0"/>
                    <a:pt x="44792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9"/>
            <p:cNvSpPr txBox="1"/>
            <p:nvPr/>
          </p:nvSpPr>
          <p:spPr>
            <a:xfrm>
              <a:off x="0" y="-38100"/>
              <a:ext cx="2238372" cy="13195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12"/>
          <p:cNvSpPr txBox="1"/>
          <p:nvPr/>
        </p:nvSpPr>
        <p:spPr>
          <a:xfrm>
            <a:off x="2913309" y="773337"/>
            <a:ext cx="13564423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770454" y="4427761"/>
            <a:ext cx="8118707" cy="4374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Encryption alone cannot verify a server's identity.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Attackers can attempt Man-in-the-Middle (MITM) attacks by substituting public keys.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Digital certificates are signed by trusted Certificate Authorities (CAs).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Certificates bind public keys to verified identities. </a:t>
            </a:r>
          </a:p>
          <a:p>
            <a:pPr marL="518160" lvl="1" indent="-259080">
              <a:lnSpc>
                <a:spcPct val="150000"/>
              </a:lnSpc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ileron"/>
                <a:cs typeface="Aileron"/>
                <a:sym typeface="Aileron"/>
              </a:rPr>
              <a:t>Proper certificate validation helps prevent MITM attacks.</a:t>
            </a:r>
          </a:p>
          <a:p>
            <a:pPr marL="518160" lvl="1" indent="-259080" algn="l">
              <a:lnSpc>
                <a:spcPct val="150000"/>
              </a:lnSpc>
              <a:buFont typeface="Arial"/>
              <a:buChar char="•"/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ileron"/>
              <a:cs typeface="Aileron"/>
              <a:sym typeface="Aileron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4590636" y="1461723"/>
            <a:ext cx="10209770" cy="9925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Digital Certificates</a:t>
            </a:r>
          </a:p>
        </p:txBody>
      </p:sp>
      <p:pic>
        <p:nvPicPr>
          <p:cNvPr id="15" name="Picture 14" descr="Avoiding man-in-the-middle (MITM) attacks">
            <a:extLst>
              <a:ext uri="{FF2B5EF4-FFF2-40B4-BE49-F238E27FC236}">
                <a16:creationId xmlns:a16="http://schemas.microsoft.com/office/drawing/2014/main" id="{4DCE26C5-E2AE-51F1-E93A-0BE7635D8E4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21616" y="3710421"/>
            <a:ext cx="9521488" cy="4999939"/>
          </a:xfrm>
          <a:prstGeom prst="rect">
            <a:avLst/>
          </a:prstGeom>
          <a:effectLst>
            <a:outerShdw blurRad="254000" dist="635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0" name="Freeform 10"/>
          <p:cNvSpPr/>
          <p:nvPr/>
        </p:nvSpPr>
        <p:spPr>
          <a:xfrm>
            <a:off x="1175729" y="2749834"/>
            <a:ext cx="7038181" cy="7038181"/>
          </a:xfrm>
          <a:custGeom>
            <a:avLst/>
            <a:gdLst/>
            <a:ahLst/>
            <a:cxnLst/>
            <a:rect l="l" t="t" r="r" b="b"/>
            <a:pathLst>
              <a:path w="5925271" h="5925271">
                <a:moveTo>
                  <a:pt x="0" y="0"/>
                </a:moveTo>
                <a:lnTo>
                  <a:pt x="5925271" y="0"/>
                </a:lnTo>
                <a:lnTo>
                  <a:pt x="5925271" y="5925271"/>
                </a:lnTo>
                <a:lnTo>
                  <a:pt x="0" y="59252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890656" y="885474"/>
            <a:ext cx="13548977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Practicality in the Real World</a:t>
            </a:r>
          </a:p>
        </p:txBody>
      </p:sp>
      <p:sp>
        <p:nvSpPr>
          <p:cNvPr id="13" name="TextBox 13"/>
          <p:cNvSpPr txBox="1"/>
          <p:nvPr/>
        </p:nvSpPr>
        <p:spPr>
          <a:xfrm>
            <a:off x="6041115" y="1592639"/>
            <a:ext cx="8750620" cy="99257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>
                <a:solidFill>
                  <a:srgbClr val="545454"/>
                </a:solidFill>
                <a:latin typeface="Alegreya Sans SC"/>
                <a:ea typeface="Alegreya Sans SC"/>
                <a:cs typeface="Alegreya Sans SC"/>
                <a:sym typeface="Alegreya Sans SC"/>
              </a:rPr>
              <a:t>SSH and HTTPS</a:t>
            </a:r>
          </a:p>
        </p:txBody>
      </p:sp>
      <p:grpSp>
        <p:nvGrpSpPr>
          <p:cNvPr id="14" name="Group 3">
            <a:extLst>
              <a:ext uri="{FF2B5EF4-FFF2-40B4-BE49-F238E27FC236}">
                <a16:creationId xmlns:a16="http://schemas.microsoft.com/office/drawing/2014/main" id="{8463DB46-FB95-2702-BF56-EBA55E606C88}"/>
              </a:ext>
            </a:extLst>
          </p:cNvPr>
          <p:cNvGrpSpPr/>
          <p:nvPr/>
        </p:nvGrpSpPr>
        <p:grpSpPr>
          <a:xfrm>
            <a:off x="8534400" y="2719191"/>
            <a:ext cx="5720748" cy="3580546"/>
            <a:chOff x="0" y="-38100"/>
            <a:chExt cx="1723392" cy="984671"/>
          </a:xfrm>
        </p:grpSpPr>
        <p:sp>
          <p:nvSpPr>
            <p:cNvPr id="15" name="Freeform 4">
              <a:extLst>
                <a:ext uri="{FF2B5EF4-FFF2-40B4-BE49-F238E27FC236}">
                  <a16:creationId xmlns:a16="http://schemas.microsoft.com/office/drawing/2014/main" id="{97CDB3E4-EC51-0455-E846-57D84044BE54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6" name="TextBox 5">
              <a:extLst>
                <a:ext uri="{FF2B5EF4-FFF2-40B4-BE49-F238E27FC236}">
                  <a16:creationId xmlns:a16="http://schemas.microsoft.com/office/drawing/2014/main" id="{9F7BC63D-6748-AFDF-E5C3-DB636B14A0F3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7" name="TextBox 21">
            <a:extLst>
              <a:ext uri="{FF2B5EF4-FFF2-40B4-BE49-F238E27FC236}">
                <a16:creationId xmlns:a16="http://schemas.microsoft.com/office/drawing/2014/main" id="{699AD857-5E47-0ECB-33A6-BD7A79CA3947}"/>
              </a:ext>
            </a:extLst>
          </p:cNvPr>
          <p:cNvSpPr txBox="1"/>
          <p:nvPr/>
        </p:nvSpPr>
        <p:spPr>
          <a:xfrm>
            <a:off x="8694974" y="3128927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SSH (Secure Shell)</a:t>
            </a:r>
          </a:p>
        </p:txBody>
      </p:sp>
      <p:sp>
        <p:nvSpPr>
          <p:cNvPr id="18" name="TextBox 20">
            <a:extLst>
              <a:ext uri="{FF2B5EF4-FFF2-40B4-BE49-F238E27FC236}">
                <a16:creationId xmlns:a16="http://schemas.microsoft.com/office/drawing/2014/main" id="{99AB73F1-FD34-4876-8EC5-552499D72D85}"/>
              </a:ext>
            </a:extLst>
          </p:cNvPr>
          <p:cNvSpPr txBox="1"/>
          <p:nvPr/>
        </p:nvSpPr>
        <p:spPr>
          <a:xfrm>
            <a:off x="8653380" y="3655207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Connects users securely to remote servers.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Can use RSA key pairs for authentication.</a:t>
            </a:r>
          </a:p>
        </p:txBody>
      </p:sp>
      <p:grpSp>
        <p:nvGrpSpPr>
          <p:cNvPr id="34" name="Group 3">
            <a:extLst>
              <a:ext uri="{FF2B5EF4-FFF2-40B4-BE49-F238E27FC236}">
                <a16:creationId xmlns:a16="http://schemas.microsoft.com/office/drawing/2014/main" id="{FB22A857-96AE-B922-6472-A62804FE606C}"/>
              </a:ext>
            </a:extLst>
          </p:cNvPr>
          <p:cNvGrpSpPr/>
          <p:nvPr/>
        </p:nvGrpSpPr>
        <p:grpSpPr>
          <a:xfrm>
            <a:off x="14415722" y="2698149"/>
            <a:ext cx="5720748" cy="3580546"/>
            <a:chOff x="0" y="-38100"/>
            <a:chExt cx="1723392" cy="984671"/>
          </a:xfrm>
        </p:grpSpPr>
        <p:sp>
          <p:nvSpPr>
            <p:cNvPr id="35" name="Freeform 4">
              <a:extLst>
                <a:ext uri="{FF2B5EF4-FFF2-40B4-BE49-F238E27FC236}">
                  <a16:creationId xmlns:a16="http://schemas.microsoft.com/office/drawing/2014/main" id="{7228FF0F-84C3-414A-1D60-09815FACEF2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36" name="TextBox 5">
              <a:extLst>
                <a:ext uri="{FF2B5EF4-FFF2-40B4-BE49-F238E27FC236}">
                  <a16:creationId xmlns:a16="http://schemas.microsoft.com/office/drawing/2014/main" id="{0791BF13-6314-7510-7125-A5A245336125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37" name="TextBox 21">
            <a:extLst>
              <a:ext uri="{FF2B5EF4-FFF2-40B4-BE49-F238E27FC236}">
                <a16:creationId xmlns:a16="http://schemas.microsoft.com/office/drawing/2014/main" id="{E08220F5-D1A0-D207-43FD-2B59A8484D9C}"/>
              </a:ext>
            </a:extLst>
          </p:cNvPr>
          <p:cNvSpPr txBox="1"/>
          <p:nvPr/>
        </p:nvSpPr>
        <p:spPr>
          <a:xfrm>
            <a:off x="14576296" y="3107885"/>
            <a:ext cx="5426638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Security Benefits</a:t>
            </a:r>
          </a:p>
        </p:txBody>
      </p:sp>
      <p:sp>
        <p:nvSpPr>
          <p:cNvPr id="38" name="TextBox 20">
            <a:extLst>
              <a:ext uri="{FF2B5EF4-FFF2-40B4-BE49-F238E27FC236}">
                <a16:creationId xmlns:a16="http://schemas.microsoft.com/office/drawing/2014/main" id="{164670F4-92BA-82EF-53AE-BA67A3236225}"/>
              </a:ext>
            </a:extLst>
          </p:cNvPr>
          <p:cNvSpPr txBox="1"/>
          <p:nvPr/>
        </p:nvSpPr>
        <p:spPr>
          <a:xfrm>
            <a:off x="14534702" y="3625191"/>
            <a:ext cx="5340470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Protects against unauthorized access and impersonation.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Public keys can be shared without revealing private keys.</a:t>
            </a:r>
          </a:p>
        </p:txBody>
      </p:sp>
      <p:grpSp>
        <p:nvGrpSpPr>
          <p:cNvPr id="39" name="Group 3">
            <a:extLst>
              <a:ext uri="{FF2B5EF4-FFF2-40B4-BE49-F238E27FC236}">
                <a16:creationId xmlns:a16="http://schemas.microsoft.com/office/drawing/2014/main" id="{BB13F866-28B5-E8F4-77FE-0DE695AF8306}"/>
              </a:ext>
            </a:extLst>
          </p:cNvPr>
          <p:cNvGrpSpPr/>
          <p:nvPr/>
        </p:nvGrpSpPr>
        <p:grpSpPr>
          <a:xfrm>
            <a:off x="8534400" y="6567463"/>
            <a:ext cx="11602070" cy="2995637"/>
            <a:chOff x="0" y="-38100"/>
            <a:chExt cx="1723392" cy="984671"/>
          </a:xfrm>
        </p:grpSpPr>
        <p:sp>
          <p:nvSpPr>
            <p:cNvPr id="40" name="Freeform 4">
              <a:extLst>
                <a:ext uri="{FF2B5EF4-FFF2-40B4-BE49-F238E27FC236}">
                  <a16:creationId xmlns:a16="http://schemas.microsoft.com/office/drawing/2014/main" id="{16126E9B-7FEE-F418-0D49-0084937C21CD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41" name="TextBox 5">
              <a:extLst>
                <a:ext uri="{FF2B5EF4-FFF2-40B4-BE49-F238E27FC236}">
                  <a16:creationId xmlns:a16="http://schemas.microsoft.com/office/drawing/2014/main" id="{18C3F810-1125-54D0-4C01-C3D1F96C65C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42" name="TextBox 21">
            <a:extLst>
              <a:ext uri="{FF2B5EF4-FFF2-40B4-BE49-F238E27FC236}">
                <a16:creationId xmlns:a16="http://schemas.microsoft.com/office/drawing/2014/main" id="{008AADB9-E25A-AD34-6CC1-4957F8837F07}"/>
              </a:ext>
            </a:extLst>
          </p:cNvPr>
          <p:cNvSpPr txBox="1"/>
          <p:nvPr/>
        </p:nvSpPr>
        <p:spPr>
          <a:xfrm>
            <a:off x="9919922" y="6842677"/>
            <a:ext cx="8831026" cy="41036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3210"/>
              </a:lnSpc>
            </a:pPr>
            <a:r>
              <a:rPr lang="en-US" sz="3000" b="1" dirty="0">
                <a:solidFill>
                  <a:srgbClr val="000000"/>
                </a:solidFill>
                <a:latin typeface="Alegreya Sans SC Medium"/>
                <a:ea typeface="Alegreya Sans SC Medium"/>
                <a:cs typeface="Alegreya Sans SC Medium"/>
                <a:sym typeface="Alegreya Sans SC Medium"/>
              </a:rPr>
              <a:t>HTTPS (Hypertext Transfer Protocol Secure)</a:t>
            </a:r>
          </a:p>
        </p:txBody>
      </p:sp>
      <p:sp>
        <p:nvSpPr>
          <p:cNvPr id="43" name="TextBox 20">
            <a:extLst>
              <a:ext uri="{FF2B5EF4-FFF2-40B4-BE49-F238E27FC236}">
                <a16:creationId xmlns:a16="http://schemas.microsoft.com/office/drawing/2014/main" id="{A2EC4BB9-1CB0-AE09-F86E-E26C13B6DD70}"/>
              </a:ext>
            </a:extLst>
          </p:cNvPr>
          <p:cNvSpPr txBox="1"/>
          <p:nvPr/>
        </p:nvSpPr>
        <p:spPr>
          <a:xfrm>
            <a:off x="8653380" y="7154327"/>
            <a:ext cx="11221792" cy="215873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TLS to establish secure connections.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Uses digital certificates for server authentication.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can be used for digital signatures.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Modern HTTPS encrypts transmitted data using symmetric encryption.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04724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1" name="TextBox 11"/>
          <p:cNvSpPr txBox="1"/>
          <p:nvPr/>
        </p:nvSpPr>
        <p:spPr>
          <a:xfrm>
            <a:off x="2750473" y="227608"/>
            <a:ext cx="13798211" cy="11028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The Future of RSA Encryption</a:t>
            </a:r>
          </a:p>
        </p:txBody>
      </p:sp>
      <p:pic>
        <p:nvPicPr>
          <p:cNvPr id="14" name="Picture 13" descr="Post-Quantum Cryptography Set to Replace RSA, ECC">
            <a:extLst>
              <a:ext uri="{FF2B5EF4-FFF2-40B4-BE49-F238E27FC236}">
                <a16:creationId xmlns:a16="http://schemas.microsoft.com/office/drawing/2014/main" id="{F8385719-0BAB-FCB6-91E6-2CE2F67D8DA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9026" y="2609959"/>
            <a:ext cx="15036542" cy="6343541"/>
          </a:xfrm>
          <a:prstGeom prst="rect">
            <a:avLst/>
          </a:prstGeom>
          <a:effectLst>
            <a:outerShdw blurRad="254000" dist="762000" dir="2400000" algn="ctr" rotWithShape="0">
              <a:srgbClr val="000000">
                <a:alpha val="40000"/>
              </a:srgbClr>
            </a:outerShdw>
          </a:effectLst>
        </p:spPr>
      </p:pic>
      <p:grpSp>
        <p:nvGrpSpPr>
          <p:cNvPr id="7" name="Group 3">
            <a:extLst>
              <a:ext uri="{FF2B5EF4-FFF2-40B4-BE49-F238E27FC236}">
                <a16:creationId xmlns:a16="http://schemas.microsoft.com/office/drawing/2014/main" id="{06B71753-1993-4416-2E18-45CCF848B910}"/>
              </a:ext>
            </a:extLst>
          </p:cNvPr>
          <p:cNvGrpSpPr/>
          <p:nvPr/>
        </p:nvGrpSpPr>
        <p:grpSpPr>
          <a:xfrm>
            <a:off x="15746908" y="2279414"/>
            <a:ext cx="4829289" cy="6674086"/>
            <a:chOff x="0" y="-38100"/>
            <a:chExt cx="1723392" cy="984671"/>
          </a:xfrm>
        </p:grpSpPr>
        <p:sp>
          <p:nvSpPr>
            <p:cNvPr id="8" name="Freeform 4">
              <a:extLst>
                <a:ext uri="{FF2B5EF4-FFF2-40B4-BE49-F238E27FC236}">
                  <a16:creationId xmlns:a16="http://schemas.microsoft.com/office/drawing/2014/main" id="{69D96282-09F8-E8AC-374F-85C26AA472CB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9" name="TextBox 5">
              <a:extLst>
                <a:ext uri="{FF2B5EF4-FFF2-40B4-BE49-F238E27FC236}">
                  <a16:creationId xmlns:a16="http://schemas.microsoft.com/office/drawing/2014/main" id="{4B61717D-5AA3-9983-C82B-97CBF14E924A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12" name="TextBox 20">
            <a:extLst>
              <a:ext uri="{FF2B5EF4-FFF2-40B4-BE49-F238E27FC236}">
                <a16:creationId xmlns:a16="http://schemas.microsoft.com/office/drawing/2014/main" id="{B315981C-63DB-E73B-BF8F-BEE8C5FB383B}"/>
              </a:ext>
            </a:extLst>
          </p:cNvPr>
          <p:cNvSpPr txBox="1"/>
          <p:nvPr/>
        </p:nvSpPr>
        <p:spPr>
          <a:xfrm>
            <a:off x="15786921" y="3004217"/>
            <a:ext cx="4638521" cy="5482719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RSA remains widely used today.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Quantum computing presents a potential future security threat.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Sufficiently powerful quantum computers could break RSA encryption.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NIST is guiding the transition to post-quantum cryptography. </a:t>
            </a:r>
          </a:p>
          <a:p>
            <a:pPr marL="518160" lvl="1" indent="-259080">
              <a:lnSpc>
                <a:spcPct val="150000"/>
              </a:lnSpc>
              <a:spcBef>
                <a:spcPct val="0"/>
              </a:spcBef>
              <a:buFont typeface="Arial"/>
              <a:buChar char="•"/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Open Sans"/>
                <a:cs typeface="Open Sans"/>
                <a:sym typeface="Open Sans"/>
              </a:rPr>
              <a:t>Major proposed transition milestones: 2030 and 2035.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 rot="-5400000">
            <a:off x="4557186" y="-5988665"/>
            <a:ext cx="11718479" cy="20832852"/>
          </a:xfrm>
          <a:custGeom>
            <a:avLst/>
            <a:gdLst/>
            <a:ahLst/>
            <a:cxnLst/>
            <a:rect l="l" t="t" r="r" b="b"/>
            <a:pathLst>
              <a:path w="11718479" h="20832852">
                <a:moveTo>
                  <a:pt x="0" y="0"/>
                </a:moveTo>
                <a:lnTo>
                  <a:pt x="11718479" y="0"/>
                </a:lnTo>
                <a:lnTo>
                  <a:pt x="11718479" y="20832851"/>
                </a:lnTo>
                <a:lnTo>
                  <a:pt x="0" y="2083285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Freeform 5"/>
          <p:cNvSpPr/>
          <p:nvPr/>
        </p:nvSpPr>
        <p:spPr>
          <a:xfrm>
            <a:off x="15486600" y="396902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6" name="Freeform 6"/>
          <p:cNvSpPr/>
          <p:nvPr/>
        </p:nvSpPr>
        <p:spPr>
          <a:xfrm>
            <a:off x="57095" y="7366014"/>
            <a:ext cx="2693378" cy="2693378"/>
          </a:xfrm>
          <a:custGeom>
            <a:avLst/>
            <a:gdLst/>
            <a:ahLst/>
            <a:cxnLst/>
            <a:rect l="l" t="t" r="r" b="b"/>
            <a:pathLst>
              <a:path w="2693378" h="2693378">
                <a:moveTo>
                  <a:pt x="0" y="0"/>
                </a:moveTo>
                <a:lnTo>
                  <a:pt x="2693378" y="0"/>
                </a:lnTo>
                <a:lnTo>
                  <a:pt x="2693378" y="2693378"/>
                </a:lnTo>
                <a:lnTo>
                  <a:pt x="0" y="269337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12" name="TextBox 12"/>
          <p:cNvSpPr txBox="1"/>
          <p:nvPr/>
        </p:nvSpPr>
        <p:spPr>
          <a:xfrm>
            <a:off x="7616363" y="450697"/>
            <a:ext cx="5071252" cy="1284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856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Closing Off</a:t>
            </a:r>
          </a:p>
        </p:txBody>
      </p:sp>
      <p:pic>
        <p:nvPicPr>
          <p:cNvPr id="14" name="Picture 13" descr="RSA Algorithm: Secure Your Data with Public-Key Encryption">
            <a:extLst>
              <a:ext uri="{FF2B5EF4-FFF2-40B4-BE49-F238E27FC236}">
                <a16:creationId xmlns:a16="http://schemas.microsoft.com/office/drawing/2014/main" id="{CF3BE0D3-B24B-E4A8-A55E-68A7C7F6963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310876" y="1997086"/>
            <a:ext cx="16211098" cy="7226803"/>
          </a:xfrm>
          <a:prstGeom prst="rect">
            <a:avLst/>
          </a:prstGeom>
          <a:effectLst>
            <a:outerShdw blurRad="254000" dist="889000" dir="2400000" algn="ctr" rotWithShape="0">
              <a:srgbClr val="000000">
                <a:alpha val="40000"/>
              </a:srgbClr>
            </a:outerShdw>
          </a:effectLst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3">
            <a:extLst>
              <a:ext uri="{FF2B5EF4-FFF2-40B4-BE49-F238E27FC236}">
                <a16:creationId xmlns:a16="http://schemas.microsoft.com/office/drawing/2014/main" id="{7AFBA427-7C1B-7F27-1234-F3217BEA4183}"/>
              </a:ext>
            </a:extLst>
          </p:cNvPr>
          <p:cNvGrpSpPr/>
          <p:nvPr/>
        </p:nvGrpSpPr>
        <p:grpSpPr>
          <a:xfrm>
            <a:off x="223495" y="2171700"/>
            <a:ext cx="17841010" cy="7886700"/>
            <a:chOff x="0" y="-38100"/>
            <a:chExt cx="1723392" cy="984671"/>
          </a:xfrm>
        </p:grpSpPr>
        <p:sp>
          <p:nvSpPr>
            <p:cNvPr id="9" name="Freeform 4">
              <a:extLst>
                <a:ext uri="{FF2B5EF4-FFF2-40B4-BE49-F238E27FC236}">
                  <a16:creationId xmlns:a16="http://schemas.microsoft.com/office/drawing/2014/main" id="{391D8643-13D7-40AB-6864-77F1C1311A81}"/>
                </a:ext>
              </a:extLst>
            </p:cNvPr>
            <p:cNvSpPr/>
            <p:nvPr/>
          </p:nvSpPr>
          <p:spPr>
            <a:xfrm>
              <a:off x="0" y="0"/>
              <a:ext cx="1723392" cy="946571"/>
            </a:xfrm>
            <a:custGeom>
              <a:avLst/>
              <a:gdLst/>
              <a:ahLst/>
              <a:cxnLst/>
              <a:rect l="l" t="t" r="r" b="b"/>
              <a:pathLst>
                <a:path w="1723392" h="946571">
                  <a:moveTo>
                    <a:pt x="60340" y="0"/>
                  </a:moveTo>
                  <a:lnTo>
                    <a:pt x="1663051" y="0"/>
                  </a:lnTo>
                  <a:cubicBezTo>
                    <a:pt x="1679054" y="0"/>
                    <a:pt x="1694402" y="6357"/>
                    <a:pt x="1705718" y="17673"/>
                  </a:cubicBezTo>
                  <a:cubicBezTo>
                    <a:pt x="1717034" y="28989"/>
                    <a:pt x="1723392" y="44337"/>
                    <a:pt x="1723392" y="60340"/>
                  </a:cubicBezTo>
                  <a:lnTo>
                    <a:pt x="1723392" y="886230"/>
                  </a:lnTo>
                  <a:cubicBezTo>
                    <a:pt x="1723392" y="919555"/>
                    <a:pt x="1696376" y="946571"/>
                    <a:pt x="1663051" y="946571"/>
                  </a:cubicBezTo>
                  <a:lnTo>
                    <a:pt x="60340" y="946571"/>
                  </a:lnTo>
                  <a:cubicBezTo>
                    <a:pt x="44337" y="946571"/>
                    <a:pt x="28989" y="940213"/>
                    <a:pt x="17673" y="928897"/>
                  </a:cubicBezTo>
                  <a:cubicBezTo>
                    <a:pt x="6357" y="917581"/>
                    <a:pt x="0" y="902233"/>
                    <a:pt x="0" y="886230"/>
                  </a:cubicBezTo>
                  <a:lnTo>
                    <a:pt x="0" y="60340"/>
                  </a:lnTo>
                  <a:cubicBezTo>
                    <a:pt x="0" y="44337"/>
                    <a:pt x="6357" y="28989"/>
                    <a:pt x="17673" y="17673"/>
                  </a:cubicBezTo>
                  <a:cubicBezTo>
                    <a:pt x="28989" y="6357"/>
                    <a:pt x="44337" y="0"/>
                    <a:pt x="60340" y="0"/>
                  </a:cubicBezTo>
                  <a:close/>
                </a:path>
              </a:pathLst>
            </a:custGeom>
            <a:solidFill>
              <a:srgbClr val="DBE0ED"/>
            </a:solidFill>
          </p:spPr>
          <p:txBody>
            <a:bodyPr/>
            <a:lstStyle/>
            <a:p>
              <a:endParaRPr lang="en-CA"/>
            </a:p>
          </p:txBody>
        </p:sp>
        <p:sp>
          <p:nvSpPr>
            <p:cNvPr id="10" name="TextBox 5">
              <a:extLst>
                <a:ext uri="{FF2B5EF4-FFF2-40B4-BE49-F238E27FC236}">
                  <a16:creationId xmlns:a16="http://schemas.microsoft.com/office/drawing/2014/main" id="{F2625F50-6BBC-42FE-B7F1-9FF2C55EA062}"/>
                </a:ext>
              </a:extLst>
            </p:cNvPr>
            <p:cNvSpPr txBox="1"/>
            <p:nvPr/>
          </p:nvSpPr>
          <p:spPr>
            <a:xfrm>
              <a:off x="0" y="-38100"/>
              <a:ext cx="1723392" cy="98467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2" name="Freeform 2"/>
          <p:cNvSpPr/>
          <p:nvPr/>
        </p:nvSpPr>
        <p:spPr>
          <a:xfrm flipV="1">
            <a:off x="519025" y="396902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0" y="2359274"/>
                </a:moveTo>
                <a:lnTo>
                  <a:pt x="2359274" y="2359274"/>
                </a:lnTo>
                <a:lnTo>
                  <a:pt x="2359274" y="0"/>
                </a:lnTo>
                <a:lnTo>
                  <a:pt x="0" y="0"/>
                </a:lnTo>
                <a:lnTo>
                  <a:pt x="0" y="2359274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3" name="Freeform 3"/>
          <p:cNvSpPr/>
          <p:nvPr/>
        </p:nvSpPr>
        <p:spPr>
          <a:xfrm flipH="1">
            <a:off x="15486600" y="7366014"/>
            <a:ext cx="2359274" cy="2359274"/>
          </a:xfrm>
          <a:custGeom>
            <a:avLst/>
            <a:gdLst/>
            <a:ahLst/>
            <a:cxnLst/>
            <a:rect l="l" t="t" r="r" b="b"/>
            <a:pathLst>
              <a:path w="2359274" h="2359274">
                <a:moveTo>
                  <a:pt x="2359274" y="0"/>
                </a:moveTo>
                <a:lnTo>
                  <a:pt x="0" y="0"/>
                </a:lnTo>
                <a:lnTo>
                  <a:pt x="0" y="2359274"/>
                </a:lnTo>
                <a:lnTo>
                  <a:pt x="2359274" y="2359274"/>
                </a:lnTo>
                <a:lnTo>
                  <a:pt x="2359274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4" name="Freeform 4"/>
          <p:cNvSpPr/>
          <p:nvPr/>
        </p:nvSpPr>
        <p:spPr>
          <a:xfrm>
            <a:off x="14961438" y="-869666"/>
            <a:ext cx="4114800" cy="4114800"/>
          </a:xfrm>
          <a:custGeom>
            <a:avLst/>
            <a:gdLst/>
            <a:ahLst/>
            <a:cxnLst/>
            <a:rect l="l" t="t" r="r" b="b"/>
            <a:pathLst>
              <a:path w="4114800" h="4114800">
                <a:moveTo>
                  <a:pt x="0" y="0"/>
                </a:moveTo>
                <a:lnTo>
                  <a:pt x="4114800" y="0"/>
                </a:lnTo>
                <a:lnTo>
                  <a:pt x="4114800" y="4114800"/>
                </a:lnTo>
                <a:lnTo>
                  <a:pt x="0" y="4114800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alphaModFix amt="24000"/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CA"/>
          </a:p>
        </p:txBody>
      </p:sp>
      <p:sp>
        <p:nvSpPr>
          <p:cNvPr id="5" name="TextBox 5"/>
          <p:cNvSpPr txBox="1"/>
          <p:nvPr/>
        </p:nvSpPr>
        <p:spPr>
          <a:xfrm>
            <a:off x="1698662" y="730782"/>
            <a:ext cx="11331538" cy="179472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6050"/>
              </a:lnSpc>
            </a:pPr>
            <a:r>
              <a:rPr lang="en-US" sz="8000" b="1" dirty="0">
                <a:solidFill>
                  <a:srgbClr val="000000"/>
                </a:solidFill>
                <a:latin typeface="Alegreya Sans SC Bold"/>
                <a:ea typeface="Alegreya Sans SC Bold"/>
                <a:cs typeface="Alegreya Sans SC Bold"/>
                <a:sym typeface="Alegreya Sans SC Bold"/>
              </a:rPr>
              <a:t>Bibliography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B15FF4D-AADA-E763-8AD5-5FD749A0B297}"/>
              </a:ext>
            </a:extLst>
          </p:cNvPr>
          <p:cNvSpPr txBox="1"/>
          <p:nvPr/>
        </p:nvSpPr>
        <p:spPr>
          <a:xfrm>
            <a:off x="446990" y="2897284"/>
            <a:ext cx="17841010" cy="77046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DigitalOcean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(n.d.). Understanding the SSH encryption and connection process.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4"/>
              </a:rPr>
              <a:t>https://www.digitalocean.com/community/tutorials/understanding-the-ssh-encryption-and-connection-process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5" tooltip="https://di-mgt.com.au/rsa_alg.html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GeeksforGeeks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. (2025, July 23). RSA algorithm in cryptography.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6"/>
              </a:rPr>
              <a:t>https://www.geeksforgeeks.org/computer-networks/rsa-algorithm-cryptography/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6" tooltip="https://www.geeksforgeeks.org/computer-networks/rsa-algorithm-cryptography/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Ireland, D. (n.d.). RSA algorithm. DI Management Services Pty Limited.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5"/>
              </a:rPr>
              <a:t>https://di-mgt.com.au/rsa_alg.html</a:t>
            </a: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Lebeaux, B. (2026, September 17). Setting the record straight on quantum computing and RSA encryption. RSA.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7"/>
              </a:rPr>
              <a:t>https://www.rsa.com/resources/blog/zero-trust/setting-the-record-straight-on-quantum-computing-and-rsa-encryption/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indent="-457200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8" tooltip="https://community.rsa.com/s/article/RSA-cryptography-and-NIST-guidance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Moody, D., </a:t>
            </a:r>
            <a:r>
              <a:rPr lang="en-US" sz="2400" dirty="0" err="1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Perlner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, R., Regenscheid, A., Robinson, A., &amp; Cooper, D. (2024). Transition to post-quantum cryptography standards (NIST IR 8547, Initial Public Draft). National Institute of Standards and Technology.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9"/>
              </a:rPr>
              <a:t>https://doi.org/10.6028/NIST.IR.8547.ipd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u="sng" dirty="0">
              <a:solidFill>
                <a:srgbClr val="1800AD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  <a:hlinkClick r:id="rId10" tooltip="https://securew2.com/blog/what-is-rsa-asymmetric-encryption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Rescorla, E. (2018). The Transport Layer Security (TLS) Protocol Version 1.3 (RFC 8446). Internet Engineering Task Force.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1"/>
              </a:rPr>
              <a:t>https://doi.org/10.17487/RFC8446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RSA Community. (n.d.). RSA cryptography and NIST guidance.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8"/>
              </a:rPr>
              <a:t>https://community.rsa.com/s/article/RSA-cryptography-and-NIST-guidance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</a:rPr>
              <a:t>Tucker, A. (2024, September 30). RSA encryption: How the RSA algorithm works and why it matters. SecureW2. </a:t>
            </a:r>
            <a:r>
              <a:rPr lang="en-US" sz="2400" dirty="0">
                <a:solidFill>
                  <a:srgbClr val="000000"/>
                </a:solidFill>
                <a:latin typeface="Candara" panose="020E0502030303020204" pitchFamily="34" charset="0"/>
                <a:ea typeface="Alegreya Sans SC"/>
                <a:cs typeface="Alegreya Sans SC"/>
                <a:sym typeface="Alegreya Sans SC"/>
                <a:hlinkClick r:id="rId10"/>
              </a:rPr>
              <a:t>https://securew2.com/blog/what-is-rsa-asymmetric-encryption</a:t>
            </a: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pPr marL="259080" lvl="1" indent="-457200">
              <a:lnSpc>
                <a:spcPts val="2568"/>
              </a:lnSpc>
              <a:spcBef>
                <a:spcPct val="0"/>
              </a:spcBef>
            </a:pPr>
            <a:endParaRPr lang="en-US" sz="2400" dirty="0">
              <a:solidFill>
                <a:srgbClr val="000000"/>
              </a:solidFill>
              <a:latin typeface="Candara" panose="020E0502030303020204" pitchFamily="34" charset="0"/>
              <a:ea typeface="Alegreya Sans SC"/>
              <a:cs typeface="Alegreya Sans SC"/>
              <a:sym typeface="Alegreya Sans SC"/>
            </a:endParaRPr>
          </a:p>
          <a:p>
            <a:endParaRPr lang="en-K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2453</TotalTime>
  <Words>701</Words>
  <Application>Microsoft Macintosh PowerPoint</Application>
  <PresentationFormat>Custom</PresentationFormat>
  <Paragraphs>75</Paragraphs>
  <Slides>9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7" baseType="lpstr">
      <vt:lpstr>Alegreya Sans SC Bold</vt:lpstr>
      <vt:lpstr>Arial</vt:lpstr>
      <vt:lpstr>Alegreya Sans SC Medium</vt:lpstr>
      <vt:lpstr>Candara</vt:lpstr>
      <vt:lpstr>Calibri</vt:lpstr>
      <vt:lpstr>Alegreya Sans SC</vt:lpstr>
      <vt:lpstr>Aptos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Blue White Modern Geometric Research Project Presentation</dc:title>
  <cp:lastModifiedBy>4148</cp:lastModifiedBy>
  <cp:revision>19</cp:revision>
  <dcterms:created xsi:type="dcterms:W3CDTF">2006-08-16T00:00:00Z</dcterms:created>
  <dcterms:modified xsi:type="dcterms:W3CDTF">2026-10-17T20:05:52Z</dcterms:modified>
  <dc:identifier>DAHX2Wd_EK8</dc:identifier>
</cp:coreProperties>
</file>