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Aileron" panose="020B0604020202020204" charset="0"/>
      <p:regular r:id="rId10"/>
    </p:embeddedFont>
    <p:embeddedFont>
      <p:font typeface="Aileron Bold" panose="020B0604020202020204" charset="0"/>
      <p:regular r:id="rId11"/>
    </p:embeddedFont>
    <p:embeddedFont>
      <p:font typeface="Alegreya Sans SC" panose="020B0604020202020204" charset="0"/>
      <p:regular r:id="rId12"/>
    </p:embeddedFont>
    <p:embeddedFont>
      <p:font typeface="Alegreya Sans SC Bold" panose="020B0604020202020204" charset="0"/>
      <p:regular r:id="rId13"/>
    </p:embeddedFont>
    <p:embeddedFont>
      <p:font typeface="Alegreya Sans SC Medium" panose="020B0604020202020204" charset="0"/>
      <p:regular r:id="rId14"/>
    </p:embeddedFont>
    <p:embeddedFont>
      <p:font typeface="Open Sans" panose="020B0606030504020204" pitchFamily="34" charset="0"/>
      <p:regular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26" d="100"/>
          <a:sy n="26" d="100"/>
        </p:scale>
        <p:origin x="1700" y="4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securew2.com/blog/what-is-rsa-asymmetric-encryption" TargetMode="External"/><Relationship Id="rId3" Type="http://schemas.openxmlformats.org/officeDocument/2006/relationships/image" Target="../media/image3.svg"/><Relationship Id="rId7" Type="http://schemas.openxmlformats.org/officeDocument/2006/relationships/hyperlink" Target="https://community.rsa.com/s/article/RSA-cryptography-and-NIST-guidance" TargetMode="Externa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rsa.com/resources/blog/zero-trust/setting-the-record-straight-on-quantum-computing-and-rsa-encryption/" TargetMode="External"/><Relationship Id="rId5" Type="http://schemas.openxmlformats.org/officeDocument/2006/relationships/hyperlink" Target="https://www.geeksforgeeks.org/computer-networks/rsa-algorithm-cryptography/" TargetMode="External"/><Relationship Id="rId4" Type="http://schemas.openxmlformats.org/officeDocument/2006/relationships/hyperlink" Target="https://di-mgt.com.au/rsa_alg.html" TargetMode="External"/><Relationship Id="rId9" Type="http://schemas.openxmlformats.org/officeDocument/2006/relationships/hyperlink" Target="https://www.digitalocean.com/community/tutorials/understanding-the-ssh-encryption-and-connection-proces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TextBox 7"/>
          <p:cNvSpPr txBox="1"/>
          <p:nvPr/>
        </p:nvSpPr>
        <p:spPr>
          <a:xfrm>
            <a:off x="2008186" y="2359052"/>
            <a:ext cx="9498014" cy="41293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</a:t>
            </a:r>
          </a:p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Encryption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32764" y="6928312"/>
            <a:ext cx="5410855" cy="3129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 dirty="0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Project by: 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 dirty="0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Adrian Stanciu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 dirty="0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Muffin Aybar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 dirty="0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Summer Chang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 dirty="0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Ignacio Morales Hermosilla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271890" y="3699244"/>
            <a:ext cx="9382528" cy="6360147"/>
            <a:chOff x="0" y="0"/>
            <a:chExt cx="2471118" cy="1675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71119" cy="1675100"/>
            </a:xfrm>
            <a:custGeom>
              <a:avLst/>
              <a:gdLst/>
              <a:ahLst/>
              <a:cxnLst/>
              <a:rect l="l" t="t" r="r" b="b"/>
              <a:pathLst>
                <a:path w="2471119" h="1675100">
                  <a:moveTo>
                    <a:pt x="42082" y="0"/>
                  </a:moveTo>
                  <a:lnTo>
                    <a:pt x="2429036" y="0"/>
                  </a:lnTo>
                  <a:cubicBezTo>
                    <a:pt x="2440197" y="0"/>
                    <a:pt x="2450901" y="4434"/>
                    <a:pt x="2458793" y="12326"/>
                  </a:cubicBezTo>
                  <a:cubicBezTo>
                    <a:pt x="2466685" y="20218"/>
                    <a:pt x="2471119" y="30921"/>
                    <a:pt x="2471119" y="42082"/>
                  </a:cubicBezTo>
                  <a:lnTo>
                    <a:pt x="2471119" y="1633018"/>
                  </a:lnTo>
                  <a:cubicBezTo>
                    <a:pt x="2471119" y="1656260"/>
                    <a:pt x="2452278" y="1675100"/>
                    <a:pt x="2429036" y="1675100"/>
                  </a:cubicBezTo>
                  <a:lnTo>
                    <a:pt x="42082" y="1675100"/>
                  </a:lnTo>
                  <a:cubicBezTo>
                    <a:pt x="30921" y="1675100"/>
                    <a:pt x="20218" y="1670667"/>
                    <a:pt x="12326" y="1662775"/>
                  </a:cubicBezTo>
                  <a:cubicBezTo>
                    <a:pt x="4434" y="1654883"/>
                    <a:pt x="0" y="1644179"/>
                    <a:pt x="0" y="1633018"/>
                  </a:cubicBezTo>
                  <a:lnTo>
                    <a:pt x="0" y="42082"/>
                  </a:lnTo>
                  <a:cubicBezTo>
                    <a:pt x="0" y="30921"/>
                    <a:pt x="4434" y="20218"/>
                    <a:pt x="12326" y="12326"/>
                  </a:cubicBezTo>
                  <a:cubicBezTo>
                    <a:pt x="20218" y="4434"/>
                    <a:pt x="30921" y="0"/>
                    <a:pt x="4208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471118" cy="1713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0109379" y="3907431"/>
            <a:ext cx="10780569" cy="6214114"/>
          </a:xfrm>
          <a:custGeom>
            <a:avLst/>
            <a:gdLst/>
            <a:ahLst/>
            <a:cxnLst/>
            <a:rect l="l" t="t" r="r" b="b"/>
            <a:pathLst>
              <a:path w="8633582" h="4532631">
                <a:moveTo>
                  <a:pt x="0" y="0"/>
                </a:moveTo>
                <a:lnTo>
                  <a:pt x="8633583" y="0"/>
                </a:lnTo>
                <a:lnTo>
                  <a:pt x="8633583" y="4532630"/>
                </a:lnTo>
                <a:lnTo>
                  <a:pt x="0" y="453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/>
          <p:cNvSpPr txBox="1"/>
          <p:nvPr/>
        </p:nvSpPr>
        <p:spPr>
          <a:xfrm>
            <a:off x="2878299" y="700271"/>
            <a:ext cx="14166815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78153" y="4072886"/>
            <a:ext cx="9076264" cy="5573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Encryption is an asymmetric encryption algorithm that generates a key pair to encrypt and decrypt data.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Most common form of communication is two-way communication.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We achieve this by: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1.Make a key pair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2.Send our recipient the public key while keeping the private key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3.Recipient uses the public key to encrypt and send their own public kye over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4.Use our own private key to decrypt their public key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This allows two-way secure information by allowing both to send and receive data.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856821" y="1362849"/>
            <a:ext cx="10209770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How They’re Used and Made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3" name="Group 3"/>
          <p:cNvGrpSpPr/>
          <p:nvPr/>
        </p:nvGrpSpPr>
        <p:grpSpPr>
          <a:xfrm>
            <a:off x="345390" y="6302744"/>
            <a:ext cx="6543502" cy="3594010"/>
            <a:chOff x="0" y="0"/>
            <a:chExt cx="1723392" cy="94657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Freeform 7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8"/>
          <p:cNvGrpSpPr/>
          <p:nvPr/>
        </p:nvGrpSpPr>
        <p:grpSpPr>
          <a:xfrm>
            <a:off x="7086203" y="6285341"/>
            <a:ext cx="5629018" cy="2785546"/>
            <a:chOff x="0" y="0"/>
            <a:chExt cx="1482540" cy="73364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82540" cy="733642"/>
            </a:xfrm>
            <a:custGeom>
              <a:avLst/>
              <a:gdLst/>
              <a:ahLst/>
              <a:cxnLst/>
              <a:rect l="l" t="t" r="r" b="b"/>
              <a:pathLst>
                <a:path w="1482540" h="733642">
                  <a:moveTo>
                    <a:pt x="70143" y="0"/>
                  </a:moveTo>
                  <a:lnTo>
                    <a:pt x="1412397" y="0"/>
                  </a:lnTo>
                  <a:cubicBezTo>
                    <a:pt x="1431000" y="0"/>
                    <a:pt x="1448841" y="7390"/>
                    <a:pt x="1461995" y="20544"/>
                  </a:cubicBezTo>
                  <a:cubicBezTo>
                    <a:pt x="1475150" y="33699"/>
                    <a:pt x="1482540" y="51540"/>
                    <a:pt x="1482540" y="70143"/>
                  </a:cubicBezTo>
                  <a:lnTo>
                    <a:pt x="1482540" y="663498"/>
                  </a:lnTo>
                  <a:cubicBezTo>
                    <a:pt x="1482540" y="702237"/>
                    <a:pt x="1451136" y="733642"/>
                    <a:pt x="1412397" y="733642"/>
                  </a:cubicBezTo>
                  <a:lnTo>
                    <a:pt x="70143" y="733642"/>
                  </a:lnTo>
                  <a:cubicBezTo>
                    <a:pt x="31404" y="733642"/>
                    <a:pt x="0" y="702237"/>
                    <a:pt x="0" y="663498"/>
                  </a:cubicBezTo>
                  <a:lnTo>
                    <a:pt x="0" y="70143"/>
                  </a:lnTo>
                  <a:cubicBezTo>
                    <a:pt x="0" y="31404"/>
                    <a:pt x="31404" y="0"/>
                    <a:pt x="70143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482540" cy="7717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12" name="Group 12"/>
          <p:cNvGrpSpPr/>
          <p:nvPr/>
        </p:nvGrpSpPr>
        <p:grpSpPr>
          <a:xfrm>
            <a:off x="345390" y="3790450"/>
            <a:ext cx="12886102" cy="2281105"/>
            <a:chOff x="0" y="0"/>
            <a:chExt cx="3393871" cy="60078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393870" cy="600785"/>
            </a:xfrm>
            <a:custGeom>
              <a:avLst/>
              <a:gdLst/>
              <a:ahLst/>
              <a:cxnLst/>
              <a:rect l="l" t="t" r="r" b="b"/>
              <a:pathLst>
                <a:path w="3393870" h="600785">
                  <a:moveTo>
                    <a:pt x="30641" y="0"/>
                  </a:moveTo>
                  <a:lnTo>
                    <a:pt x="3363230" y="0"/>
                  </a:lnTo>
                  <a:cubicBezTo>
                    <a:pt x="3371356" y="0"/>
                    <a:pt x="3379150" y="3228"/>
                    <a:pt x="3384896" y="8974"/>
                  </a:cubicBezTo>
                  <a:cubicBezTo>
                    <a:pt x="3390642" y="14721"/>
                    <a:pt x="3393870" y="22514"/>
                    <a:pt x="3393870" y="30641"/>
                  </a:cubicBezTo>
                  <a:lnTo>
                    <a:pt x="3393870" y="570144"/>
                  </a:lnTo>
                  <a:cubicBezTo>
                    <a:pt x="3393870" y="578271"/>
                    <a:pt x="3390642" y="586064"/>
                    <a:pt x="3384896" y="591810"/>
                  </a:cubicBezTo>
                  <a:cubicBezTo>
                    <a:pt x="3379150" y="597557"/>
                    <a:pt x="3371356" y="600785"/>
                    <a:pt x="3363230" y="600785"/>
                  </a:cubicBezTo>
                  <a:lnTo>
                    <a:pt x="30641" y="600785"/>
                  </a:lnTo>
                  <a:cubicBezTo>
                    <a:pt x="13718" y="600785"/>
                    <a:pt x="0" y="587067"/>
                    <a:pt x="0" y="570144"/>
                  </a:cubicBezTo>
                  <a:lnTo>
                    <a:pt x="0" y="30641"/>
                  </a:lnTo>
                  <a:cubicBezTo>
                    <a:pt x="0" y="22514"/>
                    <a:pt x="3228" y="14721"/>
                    <a:pt x="8974" y="8974"/>
                  </a:cubicBezTo>
                  <a:cubicBezTo>
                    <a:pt x="14721" y="3228"/>
                    <a:pt x="22514" y="0"/>
                    <a:pt x="30641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393871" cy="6388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13350268" y="4151832"/>
            <a:ext cx="7585267" cy="6012560"/>
          </a:xfrm>
          <a:custGeom>
            <a:avLst/>
            <a:gdLst/>
            <a:ahLst/>
            <a:cxnLst/>
            <a:rect l="l" t="t" r="r" b="b"/>
            <a:pathLst>
              <a:path w="5375467" h="4031600">
                <a:moveTo>
                  <a:pt x="0" y="0"/>
                </a:moveTo>
                <a:lnTo>
                  <a:pt x="5375467" y="0"/>
                </a:lnTo>
                <a:lnTo>
                  <a:pt x="5375467" y="4031600"/>
                </a:lnTo>
                <a:lnTo>
                  <a:pt x="0" y="4031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6" name="TextBox 16"/>
          <p:cNvSpPr txBox="1"/>
          <p:nvPr/>
        </p:nvSpPr>
        <p:spPr>
          <a:xfrm>
            <a:off x="3781860" y="724241"/>
            <a:ext cx="11882914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Key Generation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45390" y="3979148"/>
            <a:ext cx="12886102" cy="2306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To start off, you need to take two very large random prime numbers.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This is done in UNIX systems by converting the output of /dev/urandom into a hexadecimal.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big the number depends on how many bits are received from urandom.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Typical length is 2028 bits.</a:t>
            </a:r>
          </a:p>
          <a:p>
            <a:pPr algn="ctr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23191" y="7175515"/>
            <a:ext cx="5762267" cy="2491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ctr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Can be generated using “Euler’s Totient Function”</a:t>
            </a:r>
          </a:p>
          <a:p>
            <a:pPr marL="518160" lvl="1" indent="-259080" algn="ctr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Public exponent e is selected</a:t>
            </a:r>
          </a:p>
          <a:p>
            <a:pPr marL="518160" lvl="1" indent="-259080" algn="ctr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Exponent generally is 65537</a:t>
            </a:r>
          </a:p>
          <a:p>
            <a:pPr marL="518160" lvl="1" indent="-259080" algn="ctr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Now you can make public key using e and n (e, n)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015431" y="6573535"/>
            <a:ext cx="3203420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Public Key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228099" y="7158112"/>
            <a:ext cx="5221659" cy="1653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ctr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Private exponent “d”</a:t>
            </a:r>
          </a:p>
          <a:p>
            <a:pPr marL="518160" lvl="1" indent="-259080" algn="ctr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Calculate d as the modular inverse of e</a:t>
            </a:r>
          </a:p>
          <a:p>
            <a:pPr marL="518160" lvl="1" indent="-259080" algn="ctr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Private key is d and n (d, n)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299003" y="6556132"/>
            <a:ext cx="3203420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Private Key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618432" y="1503691"/>
            <a:ext cx="10209770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Public and Private Keys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1600201" y="3335932"/>
            <a:ext cx="7180552" cy="5846168"/>
            <a:chOff x="0" y="0"/>
            <a:chExt cx="2238372" cy="12814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38372" cy="1281401"/>
            </a:xfrm>
            <a:custGeom>
              <a:avLst/>
              <a:gdLst/>
              <a:ahLst/>
              <a:cxnLst/>
              <a:rect l="l" t="t" r="r" b="b"/>
              <a:pathLst>
                <a:path w="2238372" h="1281401">
                  <a:moveTo>
                    <a:pt x="44792" y="0"/>
                  </a:moveTo>
                  <a:lnTo>
                    <a:pt x="2193580" y="0"/>
                  </a:lnTo>
                  <a:cubicBezTo>
                    <a:pt x="2218318" y="0"/>
                    <a:pt x="2238372" y="20054"/>
                    <a:pt x="2238372" y="44792"/>
                  </a:cubicBezTo>
                  <a:lnTo>
                    <a:pt x="2238372" y="1236609"/>
                  </a:lnTo>
                  <a:cubicBezTo>
                    <a:pt x="2238372" y="1248489"/>
                    <a:pt x="2233652" y="1259882"/>
                    <a:pt x="2225252" y="1268282"/>
                  </a:cubicBezTo>
                  <a:cubicBezTo>
                    <a:pt x="2216852" y="1276682"/>
                    <a:pt x="2205459" y="1281401"/>
                    <a:pt x="2193580" y="1281401"/>
                  </a:cubicBezTo>
                  <a:lnTo>
                    <a:pt x="44792" y="1281401"/>
                  </a:lnTo>
                  <a:cubicBezTo>
                    <a:pt x="20054" y="1281401"/>
                    <a:pt x="0" y="1261347"/>
                    <a:pt x="0" y="1236609"/>
                  </a:cubicBezTo>
                  <a:lnTo>
                    <a:pt x="0" y="44792"/>
                  </a:lnTo>
                  <a:cubicBezTo>
                    <a:pt x="0" y="20054"/>
                    <a:pt x="20054" y="0"/>
                    <a:pt x="4479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238372" cy="1319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9906000" y="2889064"/>
            <a:ext cx="10637996" cy="6235712"/>
          </a:xfrm>
          <a:custGeom>
            <a:avLst/>
            <a:gdLst/>
            <a:ahLst/>
            <a:cxnLst/>
            <a:rect l="l" t="t" r="r" b="b"/>
            <a:pathLst>
              <a:path w="7668544" h="3834272">
                <a:moveTo>
                  <a:pt x="0" y="0"/>
                </a:moveTo>
                <a:lnTo>
                  <a:pt x="7668544" y="0"/>
                </a:lnTo>
                <a:lnTo>
                  <a:pt x="7668544" y="3834272"/>
                </a:lnTo>
                <a:lnTo>
                  <a:pt x="0" y="38342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2" name="TextBox 12"/>
          <p:cNvSpPr txBox="1"/>
          <p:nvPr/>
        </p:nvSpPr>
        <p:spPr>
          <a:xfrm>
            <a:off x="2913310" y="715356"/>
            <a:ext cx="13564423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061756" y="3692711"/>
            <a:ext cx="6214041" cy="5171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Certificates: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Were come up by engineers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Made to counter attackers intercepting public keys and sending/reading data without being a part of the connection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Are digitally signed by a trusted Certificate Authority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Allows the client to verify that the public key actually belongs to the server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Is a binding of the public key to a domain, website, SSH connection or more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90636" y="1476181"/>
            <a:ext cx="10209770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Practicality in the Real World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9372600" y="3800017"/>
            <a:ext cx="10476535" cy="5451134"/>
            <a:chOff x="0" y="0"/>
            <a:chExt cx="2759252" cy="143569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59252" cy="1435689"/>
            </a:xfrm>
            <a:custGeom>
              <a:avLst/>
              <a:gdLst/>
              <a:ahLst/>
              <a:cxnLst/>
              <a:rect l="l" t="t" r="r" b="b"/>
              <a:pathLst>
                <a:path w="2759252" h="1435689">
                  <a:moveTo>
                    <a:pt x="37688" y="0"/>
                  </a:moveTo>
                  <a:lnTo>
                    <a:pt x="2721564" y="0"/>
                  </a:lnTo>
                  <a:cubicBezTo>
                    <a:pt x="2742379" y="0"/>
                    <a:pt x="2759252" y="16873"/>
                    <a:pt x="2759252" y="37688"/>
                  </a:cubicBezTo>
                  <a:lnTo>
                    <a:pt x="2759252" y="1398002"/>
                  </a:lnTo>
                  <a:cubicBezTo>
                    <a:pt x="2759252" y="1418816"/>
                    <a:pt x="2742379" y="1435689"/>
                    <a:pt x="2721564" y="1435689"/>
                  </a:cubicBezTo>
                  <a:lnTo>
                    <a:pt x="37688" y="1435689"/>
                  </a:lnTo>
                  <a:cubicBezTo>
                    <a:pt x="16873" y="1435689"/>
                    <a:pt x="0" y="1418816"/>
                    <a:pt x="0" y="1398002"/>
                  </a:cubicBezTo>
                  <a:lnTo>
                    <a:pt x="0" y="37688"/>
                  </a:lnTo>
                  <a:cubicBezTo>
                    <a:pt x="0" y="16873"/>
                    <a:pt x="16873" y="0"/>
                    <a:pt x="37688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59252" cy="14737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175729" y="2749834"/>
            <a:ext cx="7038181" cy="7038181"/>
          </a:xfrm>
          <a:custGeom>
            <a:avLst/>
            <a:gdLst/>
            <a:ahLst/>
            <a:cxnLst/>
            <a:rect l="l" t="t" r="r" b="b"/>
            <a:pathLst>
              <a:path w="5925271" h="5925271">
                <a:moveTo>
                  <a:pt x="0" y="0"/>
                </a:moveTo>
                <a:lnTo>
                  <a:pt x="5925271" y="0"/>
                </a:lnTo>
                <a:lnTo>
                  <a:pt x="5925271" y="5925271"/>
                </a:lnTo>
                <a:lnTo>
                  <a:pt x="0" y="59252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/>
          <p:cNvSpPr txBox="1"/>
          <p:nvPr/>
        </p:nvSpPr>
        <p:spPr>
          <a:xfrm>
            <a:off x="2890656" y="885474"/>
            <a:ext cx="13548977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RSA Works in the World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779262" y="4011310"/>
            <a:ext cx="9894900" cy="55732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Asymmetric encryption algorithms can be used anytime a client wants to send or receive data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is safer than https over public networks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uses a keypair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You cannot derive public from private keys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over open networks are very secure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Https authenticates websites using certificates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Establishes a secure session</a:t>
            </a:r>
          </a:p>
          <a:p>
            <a:pPr algn="l">
              <a:lnSpc>
                <a:spcPts val="3696"/>
              </a:lnSpc>
            </a:pPr>
            <a:endParaRPr lang="en-US" sz="2400" dirty="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696"/>
              </a:lnSpc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Another specific use is OpenSSH's ssh program. It connects to a virtual terminal. </a:t>
            </a:r>
          </a:p>
          <a:p>
            <a:pPr algn="l">
              <a:lnSpc>
                <a:spcPts val="3696"/>
              </a:lnSpc>
            </a:pPr>
            <a:endParaRPr lang="en-US" sz="2400" dirty="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6646724" y="1576539"/>
            <a:ext cx="6265075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Real world Usage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1519878" y="2746756"/>
            <a:ext cx="7639795" cy="6591008"/>
            <a:chOff x="0" y="0"/>
            <a:chExt cx="2012127" cy="173590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12127" cy="1735903"/>
            </a:xfrm>
            <a:custGeom>
              <a:avLst/>
              <a:gdLst/>
              <a:ahLst/>
              <a:cxnLst/>
              <a:rect l="l" t="t" r="r" b="b"/>
              <a:pathLst>
                <a:path w="2012127" h="1735903">
                  <a:moveTo>
                    <a:pt x="51682" y="0"/>
                  </a:moveTo>
                  <a:lnTo>
                    <a:pt x="1960445" y="0"/>
                  </a:lnTo>
                  <a:cubicBezTo>
                    <a:pt x="1974152" y="0"/>
                    <a:pt x="1987298" y="5445"/>
                    <a:pt x="1996990" y="15137"/>
                  </a:cubicBezTo>
                  <a:cubicBezTo>
                    <a:pt x="2006682" y="24829"/>
                    <a:pt x="2012127" y="37975"/>
                    <a:pt x="2012127" y="51682"/>
                  </a:cubicBezTo>
                  <a:lnTo>
                    <a:pt x="2012127" y="1684222"/>
                  </a:lnTo>
                  <a:cubicBezTo>
                    <a:pt x="2012127" y="1697929"/>
                    <a:pt x="2006682" y="1711074"/>
                    <a:pt x="1996990" y="1720766"/>
                  </a:cubicBezTo>
                  <a:cubicBezTo>
                    <a:pt x="1987298" y="1730458"/>
                    <a:pt x="1974152" y="1735903"/>
                    <a:pt x="1960445" y="1735903"/>
                  </a:cubicBezTo>
                  <a:lnTo>
                    <a:pt x="51682" y="1735903"/>
                  </a:lnTo>
                  <a:cubicBezTo>
                    <a:pt x="37975" y="1735903"/>
                    <a:pt x="24829" y="1730458"/>
                    <a:pt x="15137" y="1720766"/>
                  </a:cubicBezTo>
                  <a:cubicBezTo>
                    <a:pt x="5445" y="1711074"/>
                    <a:pt x="0" y="1697929"/>
                    <a:pt x="0" y="1684222"/>
                  </a:cubicBezTo>
                  <a:lnTo>
                    <a:pt x="0" y="51682"/>
                  </a:lnTo>
                  <a:cubicBezTo>
                    <a:pt x="0" y="37975"/>
                    <a:pt x="5445" y="24829"/>
                    <a:pt x="15137" y="15137"/>
                  </a:cubicBezTo>
                  <a:cubicBezTo>
                    <a:pt x="24829" y="5445"/>
                    <a:pt x="37975" y="0"/>
                    <a:pt x="5168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012127" cy="1774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0317571" y="2943917"/>
            <a:ext cx="10209770" cy="6401055"/>
          </a:xfrm>
          <a:custGeom>
            <a:avLst/>
            <a:gdLst/>
            <a:ahLst/>
            <a:cxnLst/>
            <a:rect l="l" t="t" r="r" b="b"/>
            <a:pathLst>
              <a:path w="9893128" h="5564885">
                <a:moveTo>
                  <a:pt x="0" y="0"/>
                </a:moveTo>
                <a:lnTo>
                  <a:pt x="9893128" y="0"/>
                </a:lnTo>
                <a:lnTo>
                  <a:pt x="9893128" y="5564884"/>
                </a:lnTo>
                <a:lnTo>
                  <a:pt x="0" y="55648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Box 11"/>
          <p:cNvSpPr txBox="1"/>
          <p:nvPr/>
        </p:nvSpPr>
        <p:spPr>
          <a:xfrm>
            <a:off x="2514600" y="695855"/>
            <a:ext cx="13798211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828800" y="2989619"/>
            <a:ext cx="7873345" cy="6496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88"/>
              </a:lnSpc>
            </a:pPr>
            <a:r>
              <a:rPr lang="en-US" sz="22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encryption is still wildly used across the internet.</a:t>
            </a:r>
          </a:p>
          <a:p>
            <a:pPr algn="l">
              <a:lnSpc>
                <a:spcPts val="3388"/>
              </a:lnSpc>
            </a:pPr>
            <a:r>
              <a:rPr lang="en-US" sz="22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Specially in TLS/SSL, and SSH certificates.</a:t>
            </a:r>
          </a:p>
          <a:p>
            <a:pPr algn="l">
              <a:lnSpc>
                <a:spcPts val="3388"/>
              </a:lnSpc>
            </a:pPr>
            <a:endParaRPr lang="en-US" sz="2200" dirty="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388"/>
              </a:lnSpc>
            </a:pPr>
            <a:r>
              <a:rPr lang="en-US" sz="22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They:</a:t>
            </a:r>
          </a:p>
          <a:p>
            <a:pPr algn="l">
              <a:lnSpc>
                <a:spcPts val="3388"/>
              </a:lnSpc>
            </a:pPr>
            <a:r>
              <a:rPr lang="en-US" sz="22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•Offer secure connection between client and server</a:t>
            </a:r>
          </a:p>
          <a:p>
            <a:pPr algn="l">
              <a:lnSpc>
                <a:spcPts val="3388"/>
              </a:lnSpc>
            </a:pPr>
            <a:r>
              <a:rPr lang="en-US" sz="22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•Still considered secure by today’s standards</a:t>
            </a:r>
          </a:p>
          <a:p>
            <a:pPr algn="l">
              <a:lnSpc>
                <a:spcPts val="3388"/>
              </a:lnSpc>
            </a:pPr>
            <a:endParaRPr lang="en-US" sz="2200" dirty="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388"/>
              </a:lnSpc>
            </a:pPr>
            <a:r>
              <a:rPr lang="en-US" sz="22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 National Institute of Standards and Technology is preparing to switch from RSA encryption by 2030.</a:t>
            </a:r>
          </a:p>
          <a:p>
            <a:pPr algn="l">
              <a:lnSpc>
                <a:spcPts val="3388"/>
              </a:lnSpc>
            </a:pPr>
            <a:r>
              <a:rPr lang="en-US" sz="22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 main concern is quantum computers cracking RSA’s algorithm easily.</a:t>
            </a:r>
          </a:p>
          <a:p>
            <a:pPr algn="l">
              <a:lnSpc>
                <a:spcPts val="3388"/>
              </a:lnSpc>
            </a:pPr>
            <a:endParaRPr lang="en-US" sz="2200" dirty="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388"/>
              </a:lnSpc>
            </a:pPr>
            <a:r>
              <a:rPr lang="en-US" sz="22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Companies are already switching towards post-quantum cryptography to stay ahead of bad actors.</a:t>
            </a:r>
          </a:p>
          <a:p>
            <a:pPr algn="l">
              <a:lnSpc>
                <a:spcPts val="3388"/>
              </a:lnSpc>
            </a:pPr>
            <a:endParaRPr lang="en-US" sz="2200" dirty="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617742" y="1447909"/>
            <a:ext cx="10209770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The Future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10679784" y="2832309"/>
            <a:ext cx="8921616" cy="5924665"/>
            <a:chOff x="0" y="0"/>
            <a:chExt cx="2349726" cy="156040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349726" cy="1560406"/>
            </a:xfrm>
            <a:custGeom>
              <a:avLst/>
              <a:gdLst/>
              <a:ahLst/>
              <a:cxnLst/>
              <a:rect l="l" t="t" r="r" b="b"/>
              <a:pathLst>
                <a:path w="2349726" h="1560406">
                  <a:moveTo>
                    <a:pt x="44256" y="0"/>
                  </a:moveTo>
                  <a:lnTo>
                    <a:pt x="2305470" y="0"/>
                  </a:lnTo>
                  <a:cubicBezTo>
                    <a:pt x="2317207" y="0"/>
                    <a:pt x="2328464" y="4663"/>
                    <a:pt x="2336764" y="12962"/>
                  </a:cubicBezTo>
                  <a:cubicBezTo>
                    <a:pt x="2345063" y="21262"/>
                    <a:pt x="2349726" y="32519"/>
                    <a:pt x="2349726" y="44256"/>
                  </a:cubicBezTo>
                  <a:lnTo>
                    <a:pt x="2349726" y="1516149"/>
                  </a:lnTo>
                  <a:cubicBezTo>
                    <a:pt x="2349726" y="1527887"/>
                    <a:pt x="2345063" y="1539144"/>
                    <a:pt x="2336764" y="1547443"/>
                  </a:cubicBezTo>
                  <a:cubicBezTo>
                    <a:pt x="2328464" y="1555743"/>
                    <a:pt x="2317207" y="1560406"/>
                    <a:pt x="2305470" y="1560406"/>
                  </a:cubicBezTo>
                  <a:lnTo>
                    <a:pt x="44256" y="1560406"/>
                  </a:lnTo>
                  <a:cubicBezTo>
                    <a:pt x="32519" y="1560406"/>
                    <a:pt x="21262" y="1555743"/>
                    <a:pt x="12962" y="1547443"/>
                  </a:cubicBezTo>
                  <a:cubicBezTo>
                    <a:pt x="4663" y="1539144"/>
                    <a:pt x="0" y="1527887"/>
                    <a:pt x="0" y="1516149"/>
                  </a:cubicBezTo>
                  <a:lnTo>
                    <a:pt x="0" y="44256"/>
                  </a:lnTo>
                  <a:cubicBezTo>
                    <a:pt x="0" y="32519"/>
                    <a:pt x="4663" y="21262"/>
                    <a:pt x="12962" y="12962"/>
                  </a:cubicBezTo>
                  <a:cubicBezTo>
                    <a:pt x="21262" y="4663"/>
                    <a:pt x="32519" y="0"/>
                    <a:pt x="44256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349726" cy="15985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851841" y="1674865"/>
            <a:ext cx="6028958" cy="4268098"/>
          </a:xfrm>
          <a:custGeom>
            <a:avLst/>
            <a:gdLst/>
            <a:ahLst/>
            <a:cxnLst/>
            <a:rect l="l" t="t" r="r" b="b"/>
            <a:pathLst>
              <a:path w="5669815" h="3734991">
                <a:moveTo>
                  <a:pt x="0" y="0"/>
                </a:moveTo>
                <a:lnTo>
                  <a:pt x="5669815" y="0"/>
                </a:lnTo>
                <a:lnTo>
                  <a:pt x="5669815" y="3734991"/>
                </a:lnTo>
                <a:lnTo>
                  <a:pt x="0" y="373499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11" name="Freeform 11"/>
          <p:cNvSpPr/>
          <p:nvPr/>
        </p:nvSpPr>
        <p:spPr>
          <a:xfrm>
            <a:off x="2435871" y="6313276"/>
            <a:ext cx="7692079" cy="3734991"/>
          </a:xfrm>
          <a:custGeom>
            <a:avLst/>
            <a:gdLst/>
            <a:ahLst/>
            <a:cxnLst/>
            <a:rect l="l" t="t" r="r" b="b"/>
            <a:pathLst>
              <a:path w="5974768" h="2987384">
                <a:moveTo>
                  <a:pt x="0" y="0"/>
                </a:moveTo>
                <a:lnTo>
                  <a:pt x="5974768" y="0"/>
                </a:lnTo>
                <a:lnTo>
                  <a:pt x="5974768" y="2987384"/>
                </a:lnTo>
                <a:lnTo>
                  <a:pt x="0" y="298738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2" name="TextBox 12"/>
          <p:cNvSpPr txBox="1"/>
          <p:nvPr/>
        </p:nvSpPr>
        <p:spPr>
          <a:xfrm>
            <a:off x="7616363" y="450697"/>
            <a:ext cx="5071252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Closing Off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986984" y="2964219"/>
            <a:ext cx="8274607" cy="55732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This presentation was a quick run through of RSA encryption including: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they are made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they are used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it theoretically works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key generation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Differences between public and private keys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Practicality in the real world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Where and how its most commonly used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 future</a:t>
            </a:r>
          </a:p>
          <a:p>
            <a:pPr algn="l">
              <a:lnSpc>
                <a:spcPts val="3696"/>
              </a:lnSpc>
            </a:pPr>
            <a:r>
              <a:rPr lang="en-US" sz="2400" dirty="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Without these algorithms, any information would be easily interceptable for malicious usage no-matter the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>
            <a:off x="14961438" y="-86966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TextBox 5"/>
          <p:cNvSpPr txBox="1"/>
          <p:nvPr/>
        </p:nvSpPr>
        <p:spPr>
          <a:xfrm>
            <a:off x="1698662" y="1481289"/>
            <a:ext cx="11198311" cy="2381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59595" y="3878705"/>
            <a:ext cx="14929577" cy="6211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•David Ireland, DI Management Services Pty Limited, Australia, www.di-mgt.com.au. (n.d.). RSA Algorithm. Copyright (C) 2002-25 DI Management Services Pty Limited ABN 78 083 210 584 All Rights Reserved.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4" tooltip="https://di-mgt.com.au/rsa_alg.html"/>
              </a:rPr>
              <a:t>https://di-mgt.com.au/rsa_alg.html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4" tooltip="https://di-mgt.com.au/rsa_alg.html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•GeeksforGeeks. (2025, July 23). RSA algorithm in cryptography. GeeksforGeeks.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5" tooltip="https://www.geeksforgeeks.org/computer-networks/rsa-algorithm-cryptography/"/>
              </a:rPr>
              <a:t>https://www.geeksforgeeks.org/computer-networks/rsa-algorithm-cryptography/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5" tooltip="https://www.geeksforgeeks.org/computer-networks/rsa-algorithm-cryptography/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•Lebeaux, B., &amp; Lebeaux, B. (2026, September 17). Setting the record straight on quantum computing and RSA encryption. RSA.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6" tooltip="https://www.rsa.com/resources/blog/zero-trust/setting-the-record-straight-on-quantum-computing-and-rsa-encryption/"/>
              </a:rPr>
              <a:t>https://www.rsa.com/resources/blog/zero-trust/setting-the-record-straight-on- quantum- computing-and-rsa-encryption/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6" tooltip="https://www.rsa.com/resources/blog/zero-trust/setting-the-record-straight-on-quantum-computing-and-rsa-encryption/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•RSA Community. (n.d.).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7" tooltip="https://community.rsa.com/s/article/RSA-cryptography-and-NIST-guidance"/>
              </a:rPr>
              <a:t>https://community.rsa.com/s/article/RSA-cryptography-and-NIST-guidance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7" tooltip="https://community.rsa.com/s/article/RSA-cryptography-and-NIST-guidance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•Tucker, A. (2024, September 30). RSA encryption: How the RSA algorithm works and why it matters. SecureW2.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8" tooltip="https://securew2.com/blog/what-is-rsa-asymmetric-encryption"/>
              </a:rPr>
              <a:t>https://securew2.com/blog/what-is-rsa-asymmetric-encryption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8" tooltip="https://securew2.com/blog/what-is-rsa-asymmetric-encryption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•Understanding the SSH encryption and connection process | DigitalOcean. (n.d.).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9" tooltip="https://www.digitalocean.com/community/tutorials/understanding-the-ssh-encryption-and-connection-process"/>
              </a:rPr>
              <a:t>https://www.digitalocean.com/community/tutorials/understanding-the-ssh-encryption-and-connection- process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754</Words>
  <Application>Microsoft Office PowerPoint</Application>
  <PresentationFormat>Custom</PresentationFormat>
  <Paragraphs>88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Calibri</vt:lpstr>
      <vt:lpstr>Open Sans</vt:lpstr>
      <vt:lpstr>Alegreya Sans SC Bold</vt:lpstr>
      <vt:lpstr>Aileron</vt:lpstr>
      <vt:lpstr>Alegreya Sans SC</vt:lpstr>
      <vt:lpstr>Arial</vt:lpstr>
      <vt:lpstr>Aileron Bold</vt:lpstr>
      <vt:lpstr>Alegreya Sans SC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Modern Geometric Research Project Presentation</dc:title>
  <cp:lastModifiedBy>Ignacio Morales Hermosilla</cp:lastModifiedBy>
  <cp:revision>4</cp:revision>
  <dcterms:created xsi:type="dcterms:W3CDTF">2006-08-16T00:00:00Z</dcterms:created>
  <dcterms:modified xsi:type="dcterms:W3CDTF">2026-10-14T03:21:35Z</dcterms:modified>
  <dc:identifier>DAHX2Wd_EK8</dc:identifier>
</cp:coreProperties>
</file>