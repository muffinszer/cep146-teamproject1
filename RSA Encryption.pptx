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org&amp;utm_campaign=index&amp;utm_content=original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2" r:id="rId9"/>
    <p:sldId id="263" r:id="rId10"/>
  </p:sldIdLst>
  <p:sldSz cx="18288000" cy="10287000"/>
  <p:notesSz cx="6858000" cy="9144000"/>
  <p:embeddedFontLst>
    <p:embeddedFont>
      <p:font typeface="Alegreya Sans SC" panose="020B0604020202020204" charset="0"/>
      <p:regular r:id="rId11"/>
    </p:embeddedFont>
    <p:embeddedFont>
      <p:font typeface="Alegreya Sans SC Bold" panose="020B0604020202020204" charset="0"/>
      <p:regular r:id="rId12"/>
    </p:embeddedFont>
    <p:embeddedFont>
      <p:font typeface="Alegreya Sans SC Medium" panose="020B0604020202020204" charset="0"/>
      <p:regular r:id="rId13"/>
    </p:embeddedFont>
    <p:embeddedFont>
      <p:font typeface="Candara" panose="020E0502030303020204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940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org&amp;utm_campaign=index&amp;utm_content=origina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securew2.com/blog/what-is-rsa-asymmetric-encryption" TargetMode="External"/><Relationship Id="rId3" Type="http://schemas.openxmlformats.org/officeDocument/2006/relationships/image" Target="../media/image3.svg"/><Relationship Id="rId7" Type="http://schemas.openxmlformats.org/officeDocument/2006/relationships/hyperlink" Target="https://community.rsa.com/s/article/RSA-cryptography-and-NIST-guidance" TargetMode="Externa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rsa.com/resources/blog/zero-trust/setting-the-record-straight-on-quantum-computing-and-rsa-encryption/" TargetMode="External"/><Relationship Id="rId5" Type="http://schemas.openxmlformats.org/officeDocument/2006/relationships/hyperlink" Target="https://www.geeksforgeeks.org/computer-networks/rsa-algorithm-cryptography/" TargetMode="External"/><Relationship Id="rId4" Type="http://schemas.openxmlformats.org/officeDocument/2006/relationships/hyperlink" Target="https://di-mgt.com.au/rsa_alg.html" TargetMode="External"/><Relationship Id="rId9" Type="http://schemas.openxmlformats.org/officeDocument/2006/relationships/hyperlink" Target="https://www.digitalocean.com/community/tutorials/understanding-the-ssh-encryption-and-connection-proces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0"/>
                </a:move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7" name="TextBox 7"/>
          <p:cNvSpPr txBox="1"/>
          <p:nvPr/>
        </p:nvSpPr>
        <p:spPr>
          <a:xfrm>
            <a:off x="2008186" y="2359052"/>
            <a:ext cx="9498014" cy="41293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15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</a:t>
            </a:r>
          </a:p>
          <a:p>
            <a:pPr algn="l">
              <a:lnSpc>
                <a:spcPts val="16050"/>
              </a:lnSpc>
            </a:pPr>
            <a:r>
              <a:rPr lang="en-US" sz="15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Encryption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398219" y="7443636"/>
            <a:ext cx="13440636" cy="2636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992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Project by: 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Adrian Stanciu - </a:t>
            </a:r>
            <a:r>
              <a:rPr lang="en-CA" sz="3240" dirty="0">
                <a:latin typeface="Candara" panose="020E0502030303020204" pitchFamily="34" charset="0"/>
              </a:rPr>
              <a:t>Seneca Student ID: 111272266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Muffin Aybar - </a:t>
            </a:r>
            <a:r>
              <a:rPr lang="en-CA" sz="3240" dirty="0">
                <a:latin typeface="Candara" panose="020E0502030303020204" pitchFamily="34" charset="0"/>
              </a:rPr>
              <a:t>Seneca Student ID: 107362253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Summer Chang - </a:t>
            </a:r>
            <a:r>
              <a:rPr lang="en-CA" sz="3240" dirty="0">
                <a:latin typeface="Candara" panose="020E0502030303020204" pitchFamily="34" charset="0"/>
              </a:rPr>
              <a:t>Seneca Student ID: 148482243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Ignacio Morales Hermosilla - </a:t>
            </a:r>
            <a:r>
              <a:rPr lang="en-CA" sz="3240" dirty="0">
                <a:latin typeface="Candara" panose="020E0502030303020204" pitchFamily="34" charset="0"/>
              </a:rPr>
              <a:t>Seneca Student ID: 122079262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0B0D66-EEEB-3EF4-58A4-DBD95C30DB6C}"/>
              </a:ext>
            </a:extLst>
          </p:cNvPr>
          <p:cNvSpPr txBox="1"/>
          <p:nvPr/>
        </p:nvSpPr>
        <p:spPr>
          <a:xfrm>
            <a:off x="1219200" y="6146916"/>
            <a:ext cx="4140184" cy="682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Course: CEP146 NBB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271890" y="3699244"/>
            <a:ext cx="9634110" cy="5887485"/>
            <a:chOff x="0" y="0"/>
            <a:chExt cx="2471118" cy="16751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471119" cy="1675100"/>
            </a:xfrm>
            <a:custGeom>
              <a:avLst/>
              <a:gdLst/>
              <a:ahLst/>
              <a:cxnLst/>
              <a:rect l="l" t="t" r="r" b="b"/>
              <a:pathLst>
                <a:path w="2471119" h="1675100">
                  <a:moveTo>
                    <a:pt x="42082" y="0"/>
                  </a:moveTo>
                  <a:lnTo>
                    <a:pt x="2429036" y="0"/>
                  </a:lnTo>
                  <a:cubicBezTo>
                    <a:pt x="2440197" y="0"/>
                    <a:pt x="2450901" y="4434"/>
                    <a:pt x="2458793" y="12326"/>
                  </a:cubicBezTo>
                  <a:cubicBezTo>
                    <a:pt x="2466685" y="20218"/>
                    <a:pt x="2471119" y="30921"/>
                    <a:pt x="2471119" y="42082"/>
                  </a:cubicBezTo>
                  <a:lnTo>
                    <a:pt x="2471119" y="1633018"/>
                  </a:lnTo>
                  <a:cubicBezTo>
                    <a:pt x="2471119" y="1656260"/>
                    <a:pt x="2452278" y="1675100"/>
                    <a:pt x="2429036" y="1675100"/>
                  </a:cubicBezTo>
                  <a:lnTo>
                    <a:pt x="42082" y="1675100"/>
                  </a:lnTo>
                  <a:cubicBezTo>
                    <a:pt x="30921" y="1675100"/>
                    <a:pt x="20218" y="1670667"/>
                    <a:pt x="12326" y="1662775"/>
                  </a:cubicBezTo>
                  <a:cubicBezTo>
                    <a:pt x="4434" y="1654883"/>
                    <a:pt x="0" y="1644179"/>
                    <a:pt x="0" y="1633018"/>
                  </a:cubicBezTo>
                  <a:lnTo>
                    <a:pt x="0" y="42082"/>
                  </a:lnTo>
                  <a:cubicBezTo>
                    <a:pt x="0" y="30921"/>
                    <a:pt x="4434" y="20218"/>
                    <a:pt x="12326" y="12326"/>
                  </a:cubicBezTo>
                  <a:cubicBezTo>
                    <a:pt x="20218" y="4434"/>
                    <a:pt x="30921" y="0"/>
                    <a:pt x="42082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471118" cy="1713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2878299" y="700271"/>
            <a:ext cx="14166815" cy="1102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Encryption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78153" y="4072886"/>
            <a:ext cx="9076264" cy="5181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lnSpc>
                <a:spcPts val="3696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RSA Encryption is an asymmetric encryption algorithm.</a:t>
            </a:r>
          </a:p>
          <a:p>
            <a:pPr marL="342900" indent="-342900" algn="l">
              <a:lnSpc>
                <a:spcPts val="3696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It generates a key pair to encrypt and decrypt data.</a:t>
            </a:r>
          </a:p>
          <a:p>
            <a:pPr marL="342900" indent="-342900" algn="l">
              <a:lnSpc>
                <a:spcPts val="3696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Most common form of communication is two-way communication.</a:t>
            </a:r>
          </a:p>
          <a:p>
            <a:pPr algn="l">
              <a:lnSpc>
                <a:spcPts val="3696"/>
              </a:lnSpc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We achieve this by:</a:t>
            </a:r>
          </a:p>
          <a:p>
            <a:pPr lvl="1">
              <a:lnSpc>
                <a:spcPts val="3696"/>
              </a:lnSpc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1.	Make a key pair</a:t>
            </a:r>
          </a:p>
          <a:p>
            <a:pPr lvl="1">
              <a:lnSpc>
                <a:spcPts val="3696"/>
              </a:lnSpc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2.	Send our recipient the public key while keeping the private key</a:t>
            </a:r>
          </a:p>
          <a:p>
            <a:pPr lvl="1">
              <a:lnSpc>
                <a:spcPts val="3696"/>
              </a:lnSpc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3.	Recipient uses the public key to encrypt and send their own public key over</a:t>
            </a:r>
          </a:p>
          <a:p>
            <a:pPr lvl="1">
              <a:lnSpc>
                <a:spcPts val="3696"/>
              </a:lnSpc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4.	Use our own private key to decrypt their public key</a:t>
            </a:r>
          </a:p>
          <a:p>
            <a:pPr lvl="1">
              <a:lnSpc>
                <a:spcPts val="3696"/>
              </a:lnSpc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This allows two-way secure information by allowing both to send and receive data.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856821" y="1362849"/>
            <a:ext cx="10209770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How They’re Used and Made</a:t>
            </a:r>
          </a:p>
        </p:txBody>
      </p:sp>
      <p:pic>
        <p:nvPicPr>
          <p:cNvPr id="15" name="Picture 14" descr="File:Symmetric encryption.png - Wikimedia Commons">
            <a:extLst>
              <a:ext uri="{FF2B5EF4-FFF2-40B4-BE49-F238E27FC236}">
                <a16:creationId xmlns:a16="http://schemas.microsoft.com/office/drawing/2014/main" id="{2EC436D7-0628-458B-1904-687A826083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9400" y="3944580"/>
            <a:ext cx="9634114" cy="5397743"/>
          </a:xfrm>
          <a:prstGeom prst="rect">
            <a:avLst/>
          </a:prstGeom>
          <a:effectLst>
            <a:outerShdw blurRad="254000" dist="762000" dir="2400000" algn="ctr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EF9FA-5DEC-3D84-6AF4-6378E7F05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7C607F6-931B-4F83-1AAD-4D9E900AF928}"/>
              </a:ext>
            </a:extLst>
          </p:cNvPr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0BB91FF3-1A9F-3424-8AFD-6525743E80AA}"/>
              </a:ext>
            </a:extLst>
          </p:cNvPr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CD3F829-4632-13EE-A775-73F958E4E303}"/>
              </a:ext>
            </a:extLst>
          </p:cNvPr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5DE8145F-90C6-1A73-7399-5FC9087E243F}"/>
              </a:ext>
            </a:extLst>
          </p:cNvPr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165EF9A0-40A3-EED0-1F32-009AE1855E5C}"/>
              </a:ext>
            </a:extLst>
          </p:cNvPr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349583-F6FC-C6CE-BEBE-AF80E41F0E04}"/>
              </a:ext>
            </a:extLst>
          </p:cNvPr>
          <p:cNvSpPr txBox="1"/>
          <p:nvPr/>
        </p:nvSpPr>
        <p:spPr>
          <a:xfrm>
            <a:off x="2878299" y="700271"/>
            <a:ext cx="14166815" cy="1102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Encryption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E2B51801-940F-AAF0-8CC5-7FD0D5128922}"/>
              </a:ext>
            </a:extLst>
          </p:cNvPr>
          <p:cNvSpPr txBox="1"/>
          <p:nvPr/>
        </p:nvSpPr>
        <p:spPr>
          <a:xfrm>
            <a:off x="4856821" y="1362849"/>
            <a:ext cx="10209770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How They’re Used and Made</a:t>
            </a:r>
          </a:p>
        </p:txBody>
      </p:sp>
      <p:pic>
        <p:nvPicPr>
          <p:cNvPr id="14" name="Picture 13" descr="RSA algorithm structure | Download Scientific Diagram">
            <a:extLst>
              <a:ext uri="{FF2B5EF4-FFF2-40B4-BE49-F238E27FC236}">
                <a16:creationId xmlns:a16="http://schemas.microsoft.com/office/drawing/2014/main" id="{0FEBD21A-36A9-22E1-023F-65F132B73E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855" y="2756176"/>
            <a:ext cx="11159149" cy="6695676"/>
          </a:xfrm>
          <a:prstGeom prst="rect">
            <a:avLst/>
          </a:prstGeom>
          <a:effectLst>
            <a:outerShdw blurRad="254000" dist="762000" dir="2400000" algn="ctr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20332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3" name="Group 3"/>
          <p:cNvGrpSpPr/>
          <p:nvPr/>
        </p:nvGrpSpPr>
        <p:grpSpPr>
          <a:xfrm>
            <a:off x="519025" y="3823088"/>
            <a:ext cx="7151668" cy="3542925"/>
            <a:chOff x="0" y="-38100"/>
            <a:chExt cx="1723392" cy="98467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7" name="Freeform 7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8" name="Group 8"/>
          <p:cNvGrpSpPr/>
          <p:nvPr/>
        </p:nvGrpSpPr>
        <p:grpSpPr>
          <a:xfrm>
            <a:off x="7936157" y="3967749"/>
            <a:ext cx="5494300" cy="3398264"/>
            <a:chOff x="0" y="0"/>
            <a:chExt cx="1482540" cy="73364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482540" cy="733642"/>
            </a:xfrm>
            <a:custGeom>
              <a:avLst/>
              <a:gdLst/>
              <a:ahLst/>
              <a:cxnLst/>
              <a:rect l="l" t="t" r="r" b="b"/>
              <a:pathLst>
                <a:path w="1482540" h="733642">
                  <a:moveTo>
                    <a:pt x="70143" y="0"/>
                  </a:moveTo>
                  <a:lnTo>
                    <a:pt x="1412397" y="0"/>
                  </a:lnTo>
                  <a:cubicBezTo>
                    <a:pt x="1431000" y="0"/>
                    <a:pt x="1448841" y="7390"/>
                    <a:pt x="1461995" y="20544"/>
                  </a:cubicBezTo>
                  <a:cubicBezTo>
                    <a:pt x="1475150" y="33699"/>
                    <a:pt x="1482540" y="51540"/>
                    <a:pt x="1482540" y="70143"/>
                  </a:cubicBezTo>
                  <a:lnTo>
                    <a:pt x="1482540" y="663498"/>
                  </a:lnTo>
                  <a:cubicBezTo>
                    <a:pt x="1482540" y="702237"/>
                    <a:pt x="1451136" y="733642"/>
                    <a:pt x="1412397" y="733642"/>
                  </a:cubicBezTo>
                  <a:lnTo>
                    <a:pt x="70143" y="733642"/>
                  </a:lnTo>
                  <a:cubicBezTo>
                    <a:pt x="31404" y="733642"/>
                    <a:pt x="0" y="702237"/>
                    <a:pt x="0" y="663498"/>
                  </a:cubicBezTo>
                  <a:lnTo>
                    <a:pt x="0" y="70143"/>
                  </a:lnTo>
                  <a:cubicBezTo>
                    <a:pt x="0" y="31404"/>
                    <a:pt x="31404" y="0"/>
                    <a:pt x="70143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482540" cy="7717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6" name="TextBox 16"/>
          <p:cNvSpPr txBox="1"/>
          <p:nvPr/>
        </p:nvSpPr>
        <p:spPr>
          <a:xfrm>
            <a:off x="3781860" y="724241"/>
            <a:ext cx="11882914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Key Generation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60482" y="4840520"/>
            <a:ext cx="6879560" cy="21523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Can be generated using “Euler’s Totient Function”</a:t>
            </a:r>
          </a:p>
          <a:p>
            <a:pPr marL="518160" lvl="1" indent="-259080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Public exponent e is selected</a:t>
            </a:r>
          </a:p>
          <a:p>
            <a:pPr marL="518160" lvl="1" indent="-259080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Exponent generally is 65537</a:t>
            </a:r>
          </a:p>
          <a:p>
            <a:pPr marL="518160" lvl="1" indent="-259080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Now you can make public key using e and n (e, n)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374976" y="4271601"/>
            <a:ext cx="3203420" cy="487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Public Key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078053" y="4840520"/>
            <a:ext cx="5221659" cy="2152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Different from public key</a:t>
            </a:r>
          </a:p>
          <a:p>
            <a:pPr marL="518160" lvl="1" indent="-259080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Private exponent “d”</a:t>
            </a:r>
          </a:p>
          <a:p>
            <a:pPr marL="518160" lvl="1" indent="-259080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Calculate d as the modular inverse of e</a:t>
            </a:r>
          </a:p>
          <a:p>
            <a:pPr marL="518160" lvl="1" indent="-259080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Private key is d and n (d, n)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148957" y="4238540"/>
            <a:ext cx="3203420" cy="487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Private Key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618432" y="1503691"/>
            <a:ext cx="10209770" cy="11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Public and Private Keys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6C15EF3-6EFE-C1F9-C15D-38F80268CD8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715"/>
          <a:stretch>
            <a:fillRect/>
          </a:stretch>
        </p:blipFill>
        <p:spPr>
          <a:xfrm>
            <a:off x="14068609" y="2008846"/>
            <a:ext cx="5833408" cy="8024050"/>
          </a:xfrm>
          <a:prstGeom prst="rect">
            <a:avLst/>
          </a:prstGeom>
          <a:effectLst>
            <a:outerShdw blurRad="254000" dist="381000" dir="3000000" algn="ctr" rotWithShape="0">
              <a:srgbClr val="000000">
                <a:alpha val="43137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715008" y="3854792"/>
            <a:ext cx="8229600" cy="4855568"/>
            <a:chOff x="0" y="0"/>
            <a:chExt cx="2238372" cy="128140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38372" cy="1281401"/>
            </a:xfrm>
            <a:custGeom>
              <a:avLst/>
              <a:gdLst/>
              <a:ahLst/>
              <a:cxnLst/>
              <a:rect l="l" t="t" r="r" b="b"/>
              <a:pathLst>
                <a:path w="2238372" h="1281401">
                  <a:moveTo>
                    <a:pt x="44792" y="0"/>
                  </a:moveTo>
                  <a:lnTo>
                    <a:pt x="2193580" y="0"/>
                  </a:lnTo>
                  <a:cubicBezTo>
                    <a:pt x="2218318" y="0"/>
                    <a:pt x="2238372" y="20054"/>
                    <a:pt x="2238372" y="44792"/>
                  </a:cubicBezTo>
                  <a:lnTo>
                    <a:pt x="2238372" y="1236609"/>
                  </a:lnTo>
                  <a:cubicBezTo>
                    <a:pt x="2238372" y="1248489"/>
                    <a:pt x="2233652" y="1259882"/>
                    <a:pt x="2225252" y="1268282"/>
                  </a:cubicBezTo>
                  <a:cubicBezTo>
                    <a:pt x="2216852" y="1276682"/>
                    <a:pt x="2205459" y="1281401"/>
                    <a:pt x="2193580" y="1281401"/>
                  </a:cubicBezTo>
                  <a:lnTo>
                    <a:pt x="44792" y="1281401"/>
                  </a:lnTo>
                  <a:cubicBezTo>
                    <a:pt x="20054" y="1281401"/>
                    <a:pt x="0" y="1261347"/>
                    <a:pt x="0" y="1236609"/>
                  </a:cubicBezTo>
                  <a:lnTo>
                    <a:pt x="0" y="44792"/>
                  </a:lnTo>
                  <a:cubicBezTo>
                    <a:pt x="0" y="20054"/>
                    <a:pt x="20054" y="0"/>
                    <a:pt x="44792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238372" cy="1319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913310" y="715356"/>
            <a:ext cx="13564423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Encryption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96008" y="4211571"/>
            <a:ext cx="8118707" cy="42330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696"/>
              </a:lnSpc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Certificates: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Were come up by engineers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Made to counter attackers intercepting public keys and sending/reading data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Are digitally signed by a trusted Certificate Authority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Allows the client to verify that the public key actually belongs to the server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Is a binding of the public key to a domain, website, SSH connection or more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590636" y="1476181"/>
            <a:ext cx="10209770" cy="11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Practicality in the Real World</a:t>
            </a:r>
          </a:p>
        </p:txBody>
      </p:sp>
      <p:pic>
        <p:nvPicPr>
          <p:cNvPr id="15" name="Picture 14" descr="Avoiding man-in-the-middle (MITM) attacks">
            <a:extLst>
              <a:ext uri="{FF2B5EF4-FFF2-40B4-BE49-F238E27FC236}">
                <a16:creationId xmlns:a16="http://schemas.microsoft.com/office/drawing/2014/main" id="{4DCE26C5-E2AE-51F1-E93A-0BE7635D8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1616" y="3710421"/>
            <a:ext cx="9521488" cy="4999939"/>
          </a:xfrm>
          <a:prstGeom prst="rect">
            <a:avLst/>
          </a:prstGeom>
          <a:effectLst>
            <a:outerShdw blurRad="254000" dist="635000" dir="2400000" algn="ctr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9570250" y="4093596"/>
            <a:ext cx="7269950" cy="3793104"/>
            <a:chOff x="0" y="0"/>
            <a:chExt cx="2759252" cy="143569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59252" cy="1435689"/>
            </a:xfrm>
            <a:custGeom>
              <a:avLst/>
              <a:gdLst/>
              <a:ahLst/>
              <a:cxnLst/>
              <a:rect l="l" t="t" r="r" b="b"/>
              <a:pathLst>
                <a:path w="2759252" h="1435689">
                  <a:moveTo>
                    <a:pt x="37688" y="0"/>
                  </a:moveTo>
                  <a:lnTo>
                    <a:pt x="2721564" y="0"/>
                  </a:lnTo>
                  <a:cubicBezTo>
                    <a:pt x="2742379" y="0"/>
                    <a:pt x="2759252" y="16873"/>
                    <a:pt x="2759252" y="37688"/>
                  </a:cubicBezTo>
                  <a:lnTo>
                    <a:pt x="2759252" y="1398002"/>
                  </a:lnTo>
                  <a:cubicBezTo>
                    <a:pt x="2759252" y="1418816"/>
                    <a:pt x="2742379" y="1435689"/>
                    <a:pt x="2721564" y="1435689"/>
                  </a:cubicBezTo>
                  <a:lnTo>
                    <a:pt x="37688" y="1435689"/>
                  </a:lnTo>
                  <a:cubicBezTo>
                    <a:pt x="16873" y="1435689"/>
                    <a:pt x="0" y="1418816"/>
                    <a:pt x="0" y="1398002"/>
                  </a:cubicBezTo>
                  <a:lnTo>
                    <a:pt x="0" y="37688"/>
                  </a:lnTo>
                  <a:cubicBezTo>
                    <a:pt x="0" y="16873"/>
                    <a:pt x="16873" y="0"/>
                    <a:pt x="37688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59252" cy="14737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175729" y="2749834"/>
            <a:ext cx="7038181" cy="7038181"/>
          </a:xfrm>
          <a:custGeom>
            <a:avLst/>
            <a:gdLst/>
            <a:ahLst/>
            <a:cxnLst/>
            <a:rect l="l" t="t" r="r" b="b"/>
            <a:pathLst>
              <a:path w="5925271" h="5925271">
                <a:moveTo>
                  <a:pt x="0" y="0"/>
                </a:moveTo>
                <a:lnTo>
                  <a:pt x="5925271" y="0"/>
                </a:lnTo>
                <a:lnTo>
                  <a:pt x="5925271" y="5925271"/>
                </a:lnTo>
                <a:lnTo>
                  <a:pt x="0" y="59252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1" name="TextBox 11"/>
          <p:cNvSpPr txBox="1"/>
          <p:nvPr/>
        </p:nvSpPr>
        <p:spPr>
          <a:xfrm>
            <a:off x="2890656" y="885474"/>
            <a:ext cx="13548977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How RSA Works in the World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779262" y="4304415"/>
            <a:ext cx="6660371" cy="32840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01980" lvl="1" indent="-342900" algn="l">
              <a:lnSpc>
                <a:spcPts val="3696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Send or receive data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RSA is safer than https over public networks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RSA uses a keypair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You cannot derive public from private keys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RSA over open networks are very secure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Https authenticates websites using certificates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Establishes a secure session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46724" y="1576539"/>
            <a:ext cx="6265075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Real world Usage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1" name="TextBox 11"/>
          <p:cNvSpPr txBox="1"/>
          <p:nvPr/>
        </p:nvSpPr>
        <p:spPr>
          <a:xfrm>
            <a:off x="2514600" y="695855"/>
            <a:ext cx="13798211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Encryption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617742" y="1447909"/>
            <a:ext cx="10209770" cy="11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The Future</a:t>
            </a:r>
          </a:p>
        </p:txBody>
      </p:sp>
      <p:pic>
        <p:nvPicPr>
          <p:cNvPr id="14" name="Picture 13" descr="Post-Quantum Cryptography Set to Replace RSA, ECC">
            <a:extLst>
              <a:ext uri="{FF2B5EF4-FFF2-40B4-BE49-F238E27FC236}">
                <a16:creationId xmlns:a16="http://schemas.microsoft.com/office/drawing/2014/main" id="{F8385719-0BAB-FCB6-91E6-2CE2F67D8D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703" y="2544915"/>
            <a:ext cx="16702175" cy="7046230"/>
          </a:xfrm>
          <a:prstGeom prst="rect">
            <a:avLst/>
          </a:prstGeom>
          <a:effectLst>
            <a:outerShdw blurRad="254000" dist="762000" dir="2400000" algn="ctr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2" name="TextBox 12"/>
          <p:cNvSpPr txBox="1"/>
          <p:nvPr/>
        </p:nvSpPr>
        <p:spPr>
          <a:xfrm>
            <a:off x="7616363" y="450697"/>
            <a:ext cx="5071252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Closing Off</a:t>
            </a:r>
          </a:p>
        </p:txBody>
      </p:sp>
      <p:pic>
        <p:nvPicPr>
          <p:cNvPr id="14" name="Picture 13" descr="RSA Algorithm: Secure Your Data with Public-Key Encryption">
            <a:extLst>
              <a:ext uri="{FF2B5EF4-FFF2-40B4-BE49-F238E27FC236}">
                <a16:creationId xmlns:a16="http://schemas.microsoft.com/office/drawing/2014/main" id="{CF3BE0D3-B24B-E4A8-A55E-68A7C7F696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0876" y="1997086"/>
            <a:ext cx="16211098" cy="7226803"/>
          </a:xfrm>
          <a:prstGeom prst="rect">
            <a:avLst/>
          </a:prstGeom>
          <a:effectLst>
            <a:outerShdw blurRad="254000" dist="889000" dir="2400000" algn="ctr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>
            <a:off x="14961438" y="-869666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TextBox 5"/>
          <p:cNvSpPr txBox="1"/>
          <p:nvPr/>
        </p:nvSpPr>
        <p:spPr>
          <a:xfrm>
            <a:off x="1698662" y="1481289"/>
            <a:ext cx="11198311" cy="23812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15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Bibliography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9425" y="3564037"/>
            <a:ext cx="14797175" cy="60016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 indent="-457200" algn="l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David Ireland, DI Management Services Pty Limited, Australia, www.di-mgt.com.au. (n.d.). RSA Algorithm. Copyright (C) 2002-25 DI Management Services Pty Limited ABN 78 083 210 584 All Rights Reserved. </a:t>
            </a:r>
            <a:r>
              <a:rPr lang="en-US" sz="2400" u="sng" dirty="0">
                <a:solidFill>
                  <a:srgbClr val="1800AD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4" tooltip="https://di-mgt.com.au/rsa_alg.html"/>
              </a:rPr>
              <a:t>https://di-mgt.com.au/rsa_alg.html</a:t>
            </a:r>
          </a:p>
          <a:p>
            <a:pPr indent="-457200" algn="l">
              <a:lnSpc>
                <a:spcPts val="2568"/>
              </a:lnSpc>
              <a:spcBef>
                <a:spcPct val="0"/>
              </a:spcBef>
            </a:pPr>
            <a:endParaRPr lang="en-US" sz="2400" u="sng" dirty="0">
              <a:solidFill>
                <a:srgbClr val="1800AD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  <a:hlinkClick r:id="rId4" tooltip="https://di-mgt.com.au/rsa_alg.html"/>
            </a:endParaRPr>
          </a:p>
          <a:p>
            <a:pPr marL="259080" lvl="1" indent="-457200" algn="l">
              <a:lnSpc>
                <a:spcPts val="2568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GeeksforGeeks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. (2025, July 23). RSA algorithm in cryptography.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GeeksforGeeks.</a:t>
            </a:r>
            <a:r>
              <a:rPr lang="en-US" sz="2400" u="sng" dirty="0" err="1">
                <a:solidFill>
                  <a:srgbClr val="1800AD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5" tooltip="https://www.geeksforgeeks.org/computer-networks/rsa-algorithm-cryptography/"/>
              </a:rPr>
              <a:t>https</a:t>
            </a:r>
            <a:r>
              <a:rPr lang="en-US" sz="2400" u="sng" dirty="0">
                <a:solidFill>
                  <a:srgbClr val="1800AD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5" tooltip="https://www.geeksforgeeks.org/computer-networks/rsa-algorithm-cryptography/"/>
              </a:rPr>
              <a:t>://www.geeksforgeeks.org/computer-networks/rsa-algorithm-cryptography/</a:t>
            </a:r>
          </a:p>
          <a:p>
            <a:pPr indent="-457200" algn="l">
              <a:lnSpc>
                <a:spcPts val="2568"/>
              </a:lnSpc>
              <a:spcBef>
                <a:spcPct val="0"/>
              </a:spcBef>
            </a:pPr>
            <a:endParaRPr lang="en-US" sz="2400" u="sng" dirty="0">
              <a:solidFill>
                <a:srgbClr val="1800AD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  <a:hlinkClick r:id="rId5" tooltip="https://www.geeksforgeeks.org/computer-networks/rsa-algorithm-cryptography/"/>
            </a:endParaRPr>
          </a:p>
          <a:p>
            <a:pPr marL="259080" lvl="1" indent="-457200" algn="l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Lebeaux, B., &amp; Lebeaux, B. (2026, September 17). Setting the record straight on quantum computing and RSA encryption. RSA. </a:t>
            </a:r>
            <a:r>
              <a:rPr lang="en-US" sz="2400" u="sng" dirty="0">
                <a:solidFill>
                  <a:srgbClr val="1800AD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6" tooltip="https://www.rsa.com/resources/blog/zero-trust/setting-the-record-straight-on-quantum-computing-and-rsa-encryption/"/>
              </a:rPr>
              <a:t>https://www.rsa.com/resources/blog/zero-trust/setting-the-record-straight-on- quantum- computing-and-</a:t>
            </a:r>
            <a:r>
              <a:rPr lang="en-US" sz="2400" u="sng" dirty="0" err="1">
                <a:solidFill>
                  <a:srgbClr val="1800AD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6" tooltip="https://www.rsa.com/resources/blog/zero-trust/setting-the-record-straight-on-quantum-computing-and-rsa-encryption/"/>
              </a:rPr>
              <a:t>rsa</a:t>
            </a:r>
            <a:r>
              <a:rPr lang="en-US" sz="2400" u="sng" dirty="0">
                <a:solidFill>
                  <a:srgbClr val="1800AD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6" tooltip="https://www.rsa.com/resources/blog/zero-trust/setting-the-record-straight-on-quantum-computing-and-rsa-encryption/"/>
              </a:rPr>
              <a:t>-encryption/</a:t>
            </a:r>
          </a:p>
          <a:p>
            <a:pPr indent="-457200" algn="l">
              <a:lnSpc>
                <a:spcPts val="2568"/>
              </a:lnSpc>
              <a:spcBef>
                <a:spcPct val="0"/>
              </a:spcBef>
            </a:pPr>
            <a:endParaRPr lang="en-US" sz="2400" u="sng" dirty="0">
              <a:solidFill>
                <a:srgbClr val="1800AD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  <a:hlinkClick r:id="rId6" tooltip="https://www.rsa.com/resources/blog/zero-trust/setting-the-record-straight-on-quantum-computing-and-rsa-encryption/"/>
            </a:endParaRPr>
          </a:p>
          <a:p>
            <a:pPr marL="259080" lvl="1" indent="-457200" algn="l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RSA Community. (n.d.). </a:t>
            </a:r>
            <a:r>
              <a:rPr lang="en-US" sz="2400" u="sng" dirty="0">
                <a:solidFill>
                  <a:srgbClr val="1800AD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7" tooltip="https://community.rsa.com/s/article/RSA-cryptography-and-NIST-guidance"/>
              </a:rPr>
              <a:t>https://community.rsa.com/s/article/RSA-cryptography-and-NIST-guidance</a:t>
            </a:r>
          </a:p>
          <a:p>
            <a:pPr indent="-457200" algn="l">
              <a:lnSpc>
                <a:spcPts val="2568"/>
              </a:lnSpc>
              <a:spcBef>
                <a:spcPct val="0"/>
              </a:spcBef>
            </a:pPr>
            <a:endParaRPr lang="en-US" sz="2400" u="sng" dirty="0">
              <a:solidFill>
                <a:srgbClr val="1800AD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  <a:hlinkClick r:id="rId7" tooltip="https://community.rsa.com/s/article/RSA-cryptography-and-NIST-guidance"/>
            </a:endParaRPr>
          </a:p>
          <a:p>
            <a:pPr marL="259080" lvl="1" indent="-457200" algn="l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Tucker, A. (2024, September 30). RSA encryption: How the RSA algorithm works and why it matters. SecureW2. </a:t>
            </a:r>
            <a:r>
              <a:rPr lang="en-US" sz="2400" u="sng" dirty="0">
                <a:solidFill>
                  <a:srgbClr val="1800AD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8" tooltip="https://securew2.com/blog/what-is-rsa-asymmetric-encryption"/>
              </a:rPr>
              <a:t>https://securew2.com/blog/what-is-rsa-asymmetric-encryption</a:t>
            </a:r>
          </a:p>
          <a:p>
            <a:pPr indent="-457200" algn="l">
              <a:lnSpc>
                <a:spcPts val="2568"/>
              </a:lnSpc>
              <a:spcBef>
                <a:spcPct val="0"/>
              </a:spcBef>
            </a:pPr>
            <a:endParaRPr lang="en-US" sz="2400" u="sng" dirty="0">
              <a:solidFill>
                <a:srgbClr val="1800AD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  <a:hlinkClick r:id="rId8" tooltip="https://securew2.com/blog/what-is-rsa-asymmetric-encryption"/>
            </a:endParaRPr>
          </a:p>
          <a:p>
            <a:pPr marL="259080" lvl="1" indent="-457200" algn="l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Understanding the SSH encryption and connection process |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DigitalOcean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. (n.d.). </a:t>
            </a:r>
            <a:r>
              <a:rPr lang="en-US" sz="2400" u="sng" dirty="0">
                <a:solidFill>
                  <a:srgbClr val="1800AD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9" tooltip="https://www.digitalocean.com/community/tutorials/understanding-the-ssh-encryption-and-connection-process"/>
              </a:rPr>
              <a:t>https://www.digitalocean.com/community/tutorials/understanding-the-ssh-encryption-and-connection- process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706</TotalTime>
  <Words>562</Words>
  <Application>Microsoft Office PowerPoint</Application>
  <PresentationFormat>Custom</PresentationFormat>
  <Paragraphs>65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Candara</vt:lpstr>
      <vt:lpstr>Calibri</vt:lpstr>
      <vt:lpstr>Alegreya Sans SC Bold</vt:lpstr>
      <vt:lpstr>Arial</vt:lpstr>
      <vt:lpstr>Alegreya Sans SC Medium</vt:lpstr>
      <vt:lpstr>Alegreya Sans SC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White Modern Geometric Research Project Presentation</dc:title>
  <cp:lastModifiedBy>Ignacio Morales Hermosilla</cp:lastModifiedBy>
  <cp:revision>18</cp:revision>
  <dcterms:created xsi:type="dcterms:W3CDTF">2006-08-16T00:00:00Z</dcterms:created>
  <dcterms:modified xsi:type="dcterms:W3CDTF">2026-10-16T03:41:29Z</dcterms:modified>
  <dc:identifier>DAHX2Wd_EK8</dc:identifier>
</cp:coreProperties>
</file>