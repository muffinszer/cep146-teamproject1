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Aileron" panose="020B0604020202020204" charset="0"/>
      <p:regular r:id="rId10"/>
    </p:embeddedFont>
    <p:embeddedFont>
      <p:font typeface="Aileron Bold" panose="020B0604020202020204" charset="0"/>
      <p:regular r:id="rId11"/>
    </p:embeddedFont>
    <p:embeddedFont>
      <p:font typeface="Alegreya Sans SC" panose="020B0604020202020204" charset="0"/>
      <p:regular r:id="rId12"/>
    </p:embeddedFont>
    <p:embeddedFont>
      <p:font typeface="Alegreya Sans SC Bold" panose="020B0604020202020204" charset="0"/>
      <p:regular r:id="rId13"/>
    </p:embeddedFont>
    <p:embeddedFont>
      <p:font typeface="Alegreya Sans SC Medium" panose="020B0604020202020204" charset="0"/>
      <p:regular r:id="rId14"/>
    </p:embeddedFont>
    <p:embeddedFont>
      <p:font typeface="Open Sans" panose="020B0606030504020204" pitchFamily="3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securew2.com/blog/what-is-rsa-asymmetric-encryption" TargetMode="External"/><Relationship Id="rId3" Type="http://schemas.openxmlformats.org/officeDocument/2006/relationships/image" Target="../media/image3.svg"/><Relationship Id="rId7" Type="http://schemas.openxmlformats.org/officeDocument/2006/relationships/hyperlink" Target="https://community.rsa.com/s/article/RSA-cryptography-and-NIST-guidance" TargetMode="Externa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rsa.com/resources/blog/zero-trust/setting-the-record-straight-on-quantum-computing-and-rsa-encryption/" TargetMode="External"/><Relationship Id="rId5" Type="http://schemas.openxmlformats.org/officeDocument/2006/relationships/hyperlink" Target="https://www.geeksforgeeks.org/computer-networks/rsa-algorithm-cryptography/" TargetMode="External"/><Relationship Id="rId4" Type="http://schemas.openxmlformats.org/officeDocument/2006/relationships/hyperlink" Target="https://di-mgt.com.au/rsa_alg.html" TargetMode="External"/><Relationship Id="rId9" Type="http://schemas.openxmlformats.org/officeDocument/2006/relationships/hyperlink" Target="https://www.digitalocean.com/community/tutorials/understanding-the-ssh-encryption-and-connection-proces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TextBox 6"/>
          <p:cNvSpPr txBox="1"/>
          <p:nvPr/>
        </p:nvSpPr>
        <p:spPr>
          <a:xfrm>
            <a:off x="2008186" y="2359052"/>
            <a:ext cx="9879014" cy="41293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</a:t>
            </a:r>
          </a:p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Encryption</a:t>
            </a:r>
          </a:p>
        </p:txBody>
      </p:sp>
      <p:sp>
        <p:nvSpPr>
          <p:cNvPr id="7" name="Freeform 7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8" name="TextBox 8"/>
          <p:cNvSpPr txBox="1"/>
          <p:nvPr/>
        </p:nvSpPr>
        <p:spPr>
          <a:xfrm>
            <a:off x="2332764" y="6928312"/>
            <a:ext cx="5410855" cy="3129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Project by: </a:t>
            </a:r>
          </a:p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Adrian Stanciu</a:t>
            </a:r>
          </a:p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Muffin Aybar</a:t>
            </a:r>
          </a:p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Summer Chang</a:t>
            </a:r>
          </a:p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Ignacio Morales Hermosilla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519025" y="3699244"/>
            <a:ext cx="12129251" cy="6360147"/>
            <a:chOff x="0" y="0"/>
            <a:chExt cx="3194535" cy="16751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194535" cy="1675100"/>
            </a:xfrm>
            <a:custGeom>
              <a:avLst/>
              <a:gdLst/>
              <a:ahLst/>
              <a:cxnLst/>
              <a:rect l="l" t="t" r="r" b="b"/>
              <a:pathLst>
                <a:path w="3194535" h="1675100">
                  <a:moveTo>
                    <a:pt x="32553" y="0"/>
                  </a:moveTo>
                  <a:lnTo>
                    <a:pt x="3161983" y="0"/>
                  </a:lnTo>
                  <a:cubicBezTo>
                    <a:pt x="3170616" y="0"/>
                    <a:pt x="3178896" y="3430"/>
                    <a:pt x="3185001" y="9534"/>
                  </a:cubicBezTo>
                  <a:cubicBezTo>
                    <a:pt x="3191106" y="15639"/>
                    <a:pt x="3194535" y="23919"/>
                    <a:pt x="3194535" y="32553"/>
                  </a:cubicBezTo>
                  <a:lnTo>
                    <a:pt x="3194535" y="1642548"/>
                  </a:lnTo>
                  <a:cubicBezTo>
                    <a:pt x="3194535" y="1660526"/>
                    <a:pt x="3179961" y="1675100"/>
                    <a:pt x="3161983" y="1675100"/>
                  </a:cubicBezTo>
                  <a:lnTo>
                    <a:pt x="32553" y="1675100"/>
                  </a:lnTo>
                  <a:cubicBezTo>
                    <a:pt x="23919" y="1675100"/>
                    <a:pt x="15639" y="1671671"/>
                    <a:pt x="9534" y="1665566"/>
                  </a:cubicBezTo>
                  <a:cubicBezTo>
                    <a:pt x="3430" y="1659461"/>
                    <a:pt x="0" y="1651181"/>
                    <a:pt x="0" y="1642548"/>
                  </a:cubicBezTo>
                  <a:lnTo>
                    <a:pt x="0" y="32553"/>
                  </a:lnTo>
                  <a:cubicBezTo>
                    <a:pt x="0" y="23919"/>
                    <a:pt x="3430" y="15639"/>
                    <a:pt x="9534" y="9534"/>
                  </a:cubicBezTo>
                  <a:cubicBezTo>
                    <a:pt x="15639" y="3430"/>
                    <a:pt x="23919" y="0"/>
                    <a:pt x="32553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194535" cy="1713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698662" y="1509864"/>
            <a:ext cx="14166815" cy="2370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 – How They’re Made and Used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39754" y="3966416"/>
            <a:ext cx="11223251" cy="6039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RSA Encryption is an asymmetric encryption algorithm that generates a key pair to encrypt and decrypt data.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Most common form of communication is two-way communication.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We achieve this by: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1.Make a key pair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2.Send our recipient the public key while keeping the private key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3.Recipient uses the public key to encrypt and send their own public kye over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4.Use our own private key to decrypt their public key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This allows two-way secure information by allowing both to send and receive data.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3" name="Group 3"/>
          <p:cNvGrpSpPr/>
          <p:nvPr/>
        </p:nvGrpSpPr>
        <p:grpSpPr>
          <a:xfrm>
            <a:off x="2600498" y="6309922"/>
            <a:ext cx="6543502" cy="3872037"/>
            <a:chOff x="0" y="0"/>
            <a:chExt cx="1723392" cy="101979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23392" cy="1019796"/>
            </a:xfrm>
            <a:custGeom>
              <a:avLst/>
              <a:gdLst/>
              <a:ahLst/>
              <a:cxnLst/>
              <a:rect l="l" t="t" r="r" b="b"/>
              <a:pathLst>
                <a:path w="1723392" h="1019796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959455"/>
                  </a:lnTo>
                  <a:cubicBezTo>
                    <a:pt x="1723392" y="992781"/>
                    <a:pt x="1696376" y="1019796"/>
                    <a:pt x="1663051" y="1019796"/>
                  </a:cubicBezTo>
                  <a:lnTo>
                    <a:pt x="60340" y="1019796"/>
                  </a:lnTo>
                  <a:cubicBezTo>
                    <a:pt x="44337" y="1019796"/>
                    <a:pt x="28989" y="1013439"/>
                    <a:pt x="17673" y="1002123"/>
                  </a:cubicBezTo>
                  <a:cubicBezTo>
                    <a:pt x="6357" y="990807"/>
                    <a:pt x="0" y="975459"/>
                    <a:pt x="0" y="959455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723392" cy="10578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Freeform 7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8"/>
          <p:cNvGrpSpPr/>
          <p:nvPr/>
        </p:nvGrpSpPr>
        <p:grpSpPr>
          <a:xfrm>
            <a:off x="9385461" y="7389248"/>
            <a:ext cx="5783478" cy="1801022"/>
            <a:chOff x="0" y="0"/>
            <a:chExt cx="1523221" cy="47434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23220" cy="474343"/>
            </a:xfrm>
            <a:custGeom>
              <a:avLst/>
              <a:gdLst/>
              <a:ahLst/>
              <a:cxnLst/>
              <a:rect l="l" t="t" r="r" b="b"/>
              <a:pathLst>
                <a:path w="1523220" h="474343">
                  <a:moveTo>
                    <a:pt x="68270" y="0"/>
                  </a:moveTo>
                  <a:lnTo>
                    <a:pt x="1454951" y="0"/>
                  </a:lnTo>
                  <a:cubicBezTo>
                    <a:pt x="1492655" y="0"/>
                    <a:pt x="1523220" y="30566"/>
                    <a:pt x="1523220" y="68270"/>
                  </a:cubicBezTo>
                  <a:lnTo>
                    <a:pt x="1523220" y="406073"/>
                  </a:lnTo>
                  <a:cubicBezTo>
                    <a:pt x="1523220" y="424180"/>
                    <a:pt x="1516028" y="441544"/>
                    <a:pt x="1503225" y="454347"/>
                  </a:cubicBezTo>
                  <a:cubicBezTo>
                    <a:pt x="1490422" y="467151"/>
                    <a:pt x="1473057" y="474343"/>
                    <a:pt x="1454951" y="474343"/>
                  </a:cubicBezTo>
                  <a:lnTo>
                    <a:pt x="68270" y="474343"/>
                  </a:lnTo>
                  <a:cubicBezTo>
                    <a:pt x="30566" y="474343"/>
                    <a:pt x="0" y="443778"/>
                    <a:pt x="0" y="406073"/>
                  </a:cubicBezTo>
                  <a:lnTo>
                    <a:pt x="0" y="68270"/>
                  </a:lnTo>
                  <a:cubicBezTo>
                    <a:pt x="0" y="30566"/>
                    <a:pt x="30566" y="0"/>
                    <a:pt x="6827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523221" cy="5124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12" name="Group 12"/>
          <p:cNvGrpSpPr/>
          <p:nvPr/>
        </p:nvGrpSpPr>
        <p:grpSpPr>
          <a:xfrm>
            <a:off x="2600498" y="3797627"/>
            <a:ext cx="12886102" cy="2281105"/>
            <a:chOff x="0" y="0"/>
            <a:chExt cx="3393871" cy="60078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393870" cy="600785"/>
            </a:xfrm>
            <a:custGeom>
              <a:avLst/>
              <a:gdLst/>
              <a:ahLst/>
              <a:cxnLst/>
              <a:rect l="l" t="t" r="r" b="b"/>
              <a:pathLst>
                <a:path w="3393870" h="600785">
                  <a:moveTo>
                    <a:pt x="30641" y="0"/>
                  </a:moveTo>
                  <a:lnTo>
                    <a:pt x="3363230" y="0"/>
                  </a:lnTo>
                  <a:cubicBezTo>
                    <a:pt x="3371356" y="0"/>
                    <a:pt x="3379150" y="3228"/>
                    <a:pt x="3384896" y="8974"/>
                  </a:cubicBezTo>
                  <a:cubicBezTo>
                    <a:pt x="3390642" y="14721"/>
                    <a:pt x="3393870" y="22514"/>
                    <a:pt x="3393870" y="30641"/>
                  </a:cubicBezTo>
                  <a:lnTo>
                    <a:pt x="3393870" y="570144"/>
                  </a:lnTo>
                  <a:cubicBezTo>
                    <a:pt x="3393870" y="578271"/>
                    <a:pt x="3390642" y="586064"/>
                    <a:pt x="3384896" y="591810"/>
                  </a:cubicBezTo>
                  <a:cubicBezTo>
                    <a:pt x="3379150" y="597557"/>
                    <a:pt x="3371356" y="600785"/>
                    <a:pt x="3363230" y="600785"/>
                  </a:cubicBezTo>
                  <a:lnTo>
                    <a:pt x="30641" y="600785"/>
                  </a:lnTo>
                  <a:cubicBezTo>
                    <a:pt x="13718" y="600785"/>
                    <a:pt x="0" y="587067"/>
                    <a:pt x="0" y="570144"/>
                  </a:cubicBezTo>
                  <a:lnTo>
                    <a:pt x="0" y="30641"/>
                  </a:lnTo>
                  <a:cubicBezTo>
                    <a:pt x="0" y="22514"/>
                    <a:pt x="3228" y="14721"/>
                    <a:pt x="8974" y="8974"/>
                  </a:cubicBezTo>
                  <a:cubicBezTo>
                    <a:pt x="14721" y="3228"/>
                    <a:pt x="22514" y="0"/>
                    <a:pt x="30641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3393871" cy="6388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202543" y="1537610"/>
            <a:ext cx="11882914" cy="2370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Key Generation – Private and Public Keys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600498" y="3986325"/>
            <a:ext cx="12886102" cy="2306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To start off, you need to take two very large random prime numbers.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This is done in UNIX systems by converting the output of /dev/urandom into a hexadecimal.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How big the number depends on how many bits are received from urandom.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Typical length is 2028 bits.</a:t>
            </a:r>
          </a:p>
          <a:p>
            <a:pPr algn="ctr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2750473" y="7356587"/>
            <a:ext cx="5762267" cy="2491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•Can be generated using “Euler’s Totient Function”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•Public exponent e is selected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•Exponent generally is 65537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•Now you can make public key using e and n (e, n)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029896" y="6580712"/>
            <a:ext cx="3203420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Public Key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160641" y="8127022"/>
            <a:ext cx="4233118" cy="815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•Private exponent “d”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•Private key is d and n (d, n)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675490" y="7525042"/>
            <a:ext cx="3203420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Private 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915241" y="4675927"/>
            <a:ext cx="10649843" cy="4582373"/>
            <a:chOff x="0" y="0"/>
            <a:chExt cx="2804897" cy="1206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04897" cy="1206880"/>
            </a:xfrm>
            <a:custGeom>
              <a:avLst/>
              <a:gdLst/>
              <a:ahLst/>
              <a:cxnLst/>
              <a:rect l="l" t="t" r="r" b="b"/>
              <a:pathLst>
                <a:path w="2804897" h="1206880">
                  <a:moveTo>
                    <a:pt x="37075" y="0"/>
                  </a:moveTo>
                  <a:lnTo>
                    <a:pt x="2767822" y="0"/>
                  </a:lnTo>
                  <a:cubicBezTo>
                    <a:pt x="2788298" y="0"/>
                    <a:pt x="2804897" y="16599"/>
                    <a:pt x="2804897" y="37075"/>
                  </a:cubicBezTo>
                  <a:lnTo>
                    <a:pt x="2804897" y="1169806"/>
                  </a:lnTo>
                  <a:cubicBezTo>
                    <a:pt x="2804897" y="1190281"/>
                    <a:pt x="2788298" y="1206880"/>
                    <a:pt x="2767822" y="1206880"/>
                  </a:cubicBezTo>
                  <a:lnTo>
                    <a:pt x="37075" y="1206880"/>
                  </a:lnTo>
                  <a:cubicBezTo>
                    <a:pt x="16599" y="1206880"/>
                    <a:pt x="0" y="1190281"/>
                    <a:pt x="0" y="1169806"/>
                  </a:cubicBezTo>
                  <a:lnTo>
                    <a:pt x="0" y="37075"/>
                  </a:lnTo>
                  <a:cubicBezTo>
                    <a:pt x="0" y="16599"/>
                    <a:pt x="16599" y="0"/>
                    <a:pt x="37075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804897" cy="124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698662" y="1509864"/>
            <a:ext cx="13564423" cy="2370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 – Practicality in the Real World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68778" y="4842467"/>
            <a:ext cx="10066336" cy="41730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Certificates: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•Were come up by engineers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•Made to counter attackers intercepting public keys and sending/reading data without being a part of the connection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•Are digitally signed by a trusted Certificate Authority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•Allows the client to verify that the public key actually belongs to the server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•Is a binding of the public key to a domain, website, SSH connection or more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6444296" y="4274154"/>
            <a:ext cx="10476535" cy="5138605"/>
            <a:chOff x="0" y="0"/>
            <a:chExt cx="2759252" cy="135337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59252" cy="1353377"/>
            </a:xfrm>
            <a:custGeom>
              <a:avLst/>
              <a:gdLst/>
              <a:ahLst/>
              <a:cxnLst/>
              <a:rect l="l" t="t" r="r" b="b"/>
              <a:pathLst>
                <a:path w="2759252" h="1353377">
                  <a:moveTo>
                    <a:pt x="37688" y="0"/>
                  </a:moveTo>
                  <a:lnTo>
                    <a:pt x="2721564" y="0"/>
                  </a:lnTo>
                  <a:cubicBezTo>
                    <a:pt x="2742379" y="0"/>
                    <a:pt x="2759252" y="16873"/>
                    <a:pt x="2759252" y="37688"/>
                  </a:cubicBezTo>
                  <a:lnTo>
                    <a:pt x="2759252" y="1315690"/>
                  </a:lnTo>
                  <a:cubicBezTo>
                    <a:pt x="2759252" y="1336504"/>
                    <a:pt x="2742379" y="1353377"/>
                    <a:pt x="2721564" y="1353377"/>
                  </a:cubicBezTo>
                  <a:lnTo>
                    <a:pt x="37688" y="1353377"/>
                  </a:lnTo>
                  <a:cubicBezTo>
                    <a:pt x="16873" y="1353377"/>
                    <a:pt x="0" y="1336504"/>
                    <a:pt x="0" y="1315690"/>
                  </a:cubicBezTo>
                  <a:lnTo>
                    <a:pt x="0" y="37688"/>
                  </a:lnTo>
                  <a:cubicBezTo>
                    <a:pt x="0" y="16873"/>
                    <a:pt x="16873" y="0"/>
                    <a:pt x="37688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59252" cy="13914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698662" y="1509864"/>
            <a:ext cx="13548977" cy="2370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It’s Most Commonly Used (SSH)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50958" y="4485448"/>
            <a:ext cx="9894900" cy="4639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•Asymmetric encryption algorithms can be used anytime a client wants to send or receive data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•RSA is safer than https over public networks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•RSA uses a keypair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•You cannot derive public from private keys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•RSA over open networks are very secure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Another specific use is OpenSSH's ssh program. It connects to a virtual terminal. 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3388113" y="2794469"/>
            <a:ext cx="10013517" cy="7053902"/>
            <a:chOff x="0" y="0"/>
            <a:chExt cx="2637305" cy="185781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637305" cy="1857818"/>
            </a:xfrm>
            <a:custGeom>
              <a:avLst/>
              <a:gdLst/>
              <a:ahLst/>
              <a:cxnLst/>
              <a:rect l="l" t="t" r="r" b="b"/>
              <a:pathLst>
                <a:path w="2637305" h="1857818">
                  <a:moveTo>
                    <a:pt x="39430" y="0"/>
                  </a:moveTo>
                  <a:lnTo>
                    <a:pt x="2597874" y="0"/>
                  </a:lnTo>
                  <a:cubicBezTo>
                    <a:pt x="2608332" y="0"/>
                    <a:pt x="2618361" y="4154"/>
                    <a:pt x="2625756" y="11549"/>
                  </a:cubicBezTo>
                  <a:cubicBezTo>
                    <a:pt x="2633151" y="18944"/>
                    <a:pt x="2637305" y="28973"/>
                    <a:pt x="2637305" y="39430"/>
                  </a:cubicBezTo>
                  <a:lnTo>
                    <a:pt x="2637305" y="1818387"/>
                  </a:lnTo>
                  <a:cubicBezTo>
                    <a:pt x="2637305" y="1828845"/>
                    <a:pt x="2633151" y="1838874"/>
                    <a:pt x="2625756" y="1846269"/>
                  </a:cubicBezTo>
                  <a:cubicBezTo>
                    <a:pt x="2618361" y="1853664"/>
                    <a:pt x="2608332" y="1857818"/>
                    <a:pt x="2597874" y="1857818"/>
                  </a:cubicBezTo>
                  <a:lnTo>
                    <a:pt x="39430" y="1857818"/>
                  </a:lnTo>
                  <a:cubicBezTo>
                    <a:pt x="28973" y="1857818"/>
                    <a:pt x="18944" y="1853664"/>
                    <a:pt x="11549" y="1846269"/>
                  </a:cubicBezTo>
                  <a:cubicBezTo>
                    <a:pt x="4154" y="1838874"/>
                    <a:pt x="0" y="1828845"/>
                    <a:pt x="0" y="1818387"/>
                  </a:cubicBezTo>
                  <a:lnTo>
                    <a:pt x="0" y="39430"/>
                  </a:lnTo>
                  <a:cubicBezTo>
                    <a:pt x="0" y="28973"/>
                    <a:pt x="4154" y="18944"/>
                    <a:pt x="11549" y="11549"/>
                  </a:cubicBezTo>
                  <a:cubicBezTo>
                    <a:pt x="18944" y="4154"/>
                    <a:pt x="28973" y="0"/>
                    <a:pt x="3943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637305" cy="18959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95766" y="1509864"/>
            <a:ext cx="13798211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 – The Future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388113" y="3058700"/>
            <a:ext cx="9894900" cy="6973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RSA encryption is still wildly used across the internet.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Specially in TLS/SSL, and SSH certificates.</a:t>
            </a:r>
          </a:p>
          <a:p>
            <a:pPr algn="ctr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They: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•Offer secure connection between client and server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•Still considered secure by today’s standards</a:t>
            </a:r>
          </a:p>
          <a:p>
            <a:pPr algn="ctr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The National Institute of Standards and Technologyis preparing to switch from RSA encryption by 2030.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The main concern is quantum computers cracking RSA’s algorithm easily.</a:t>
            </a:r>
          </a:p>
          <a:p>
            <a:pPr algn="ctr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Companies are already switching towards post-quantum cryptography to stay ahead of bad actors.</a:t>
            </a:r>
          </a:p>
          <a:p>
            <a:pPr algn="ctr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3340254" y="3194621"/>
            <a:ext cx="10543441" cy="5648144"/>
            <a:chOff x="0" y="0"/>
            <a:chExt cx="2776873" cy="148757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76873" cy="1487577"/>
            </a:xfrm>
            <a:custGeom>
              <a:avLst/>
              <a:gdLst/>
              <a:ahLst/>
              <a:cxnLst/>
              <a:rect l="l" t="t" r="r" b="b"/>
              <a:pathLst>
                <a:path w="2776873" h="1487577">
                  <a:moveTo>
                    <a:pt x="37449" y="0"/>
                  </a:moveTo>
                  <a:lnTo>
                    <a:pt x="2739425" y="0"/>
                  </a:lnTo>
                  <a:cubicBezTo>
                    <a:pt x="2760107" y="0"/>
                    <a:pt x="2776873" y="16766"/>
                    <a:pt x="2776873" y="37449"/>
                  </a:cubicBezTo>
                  <a:lnTo>
                    <a:pt x="2776873" y="1450128"/>
                  </a:lnTo>
                  <a:cubicBezTo>
                    <a:pt x="2776873" y="1470811"/>
                    <a:pt x="2760107" y="1487577"/>
                    <a:pt x="2739425" y="1487577"/>
                  </a:cubicBezTo>
                  <a:lnTo>
                    <a:pt x="37449" y="1487577"/>
                  </a:lnTo>
                  <a:cubicBezTo>
                    <a:pt x="16766" y="1487577"/>
                    <a:pt x="0" y="1470811"/>
                    <a:pt x="0" y="1450128"/>
                  </a:cubicBezTo>
                  <a:lnTo>
                    <a:pt x="0" y="37449"/>
                  </a:lnTo>
                  <a:cubicBezTo>
                    <a:pt x="0" y="16766"/>
                    <a:pt x="16766" y="0"/>
                    <a:pt x="37449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76873" cy="15256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4878428" y="1509864"/>
            <a:ext cx="8531143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Closing Off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817359" y="3465545"/>
            <a:ext cx="10066336" cy="5106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This presentation was a quick run through of RSA encryption including: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How they are made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How they are used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How it theoretically works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RSA key generation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Differences between public and private keys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Practicality in the real world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Where and how its most commonly used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The future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Without these algorithms, any information would be easily interceptable for malicious usage no-matter the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>
            <a:off x="14961438" y="-86966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TextBox 5"/>
          <p:cNvSpPr txBox="1"/>
          <p:nvPr/>
        </p:nvSpPr>
        <p:spPr>
          <a:xfrm>
            <a:off x="1698662" y="1481289"/>
            <a:ext cx="11198311" cy="2381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59595" y="3878705"/>
            <a:ext cx="14929577" cy="6211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•David Ireland, DI Management Services Pty Limited, Australia, www.di-mgt.com.au. (n.d.). RSA Algorithm. Copyright (C) 2002-25 DI Management Services Pty Limited ABN 78 083 210 584 All Rights Reserved.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4" tooltip="https://di-mgt.com.au/rsa_alg.html"/>
              </a:rPr>
              <a:t>https://di-mgt.com.au/rsa_alg.html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4" tooltip="https://di-mgt.com.au/rsa_alg.html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•GeeksforGeeks. (2025, July 23). RSA algorithm in cryptography. GeeksforGeeks.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5" tooltip="https://www.geeksforgeeks.org/computer-networks/rsa-algorithm-cryptography/"/>
              </a:rPr>
              <a:t>https://www.geeksforgeeks.org/computer-networks/rsa-algorithm-cryptography/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5" tooltip="https://www.geeksforgeeks.org/computer-networks/rsa-algorithm-cryptography/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•Lebeaux, B., &amp; Lebeaux, B. (2026, September 17). Setting the record straight on quantum computing and RSA encryption. RSA.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6" tooltip="https://www.rsa.com/resources/blog/zero-trust/setting-the-record-straight-on-quantum-computing-and-rsa-encryption/"/>
              </a:rPr>
              <a:t>https://www.rsa.com/resources/blog/zero-trust/setting-the-record-straight-on- quantum- computing-and-rsa-encryption/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6" tooltip="https://www.rsa.com/resources/blog/zero-trust/setting-the-record-straight-on-quantum-computing-and-rsa-encryption/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•RSA Community. (n.d.).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7" tooltip="https://community.rsa.com/s/article/RSA-cryptography-and-NIST-guidance"/>
              </a:rPr>
              <a:t>https://community.rsa.com/s/article/RSA-cryptography-and-NIST-guidance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7" tooltip="https://community.rsa.com/s/article/RSA-cryptography-and-NIST-guidance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•Tucker, A. (2024, September 30). RSA encryption: How the RSA algorithm works and why it matters. SecureW2.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8" tooltip="https://securew2.com/blog/what-is-rsa-asymmetric-encryption"/>
              </a:rPr>
              <a:t>https://securew2.com/blog/what-is-rsa-asymmetric-encryption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8" tooltip="https://securew2.com/blog/what-is-rsa-asymmetric-encryption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•Understanding the SSH encryption and connection process | DigitalOcean. (n.d.).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9" tooltip="https://www.digitalocean.com/community/tutorials/understanding-the-ssh-encryption-and-connection-process"/>
              </a:rPr>
              <a:t>https://www.digitalocean.com/community/tutorials/understanding-the-ssh-encryption-and-connection- process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755</Words>
  <Application>Microsoft Office PowerPoint</Application>
  <PresentationFormat>Custom</PresentationFormat>
  <Paragraphs>82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Alegreya Sans SC Bold</vt:lpstr>
      <vt:lpstr>Aileron</vt:lpstr>
      <vt:lpstr>Arial</vt:lpstr>
      <vt:lpstr>Open Sans</vt:lpstr>
      <vt:lpstr>Aileron Bold</vt:lpstr>
      <vt:lpstr>Alegreya Sans SC Medium</vt:lpstr>
      <vt:lpstr>Alegreya Sans SC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Modern Geometric Research Project Presentation</dc:title>
  <cp:lastModifiedBy>Ignacio Morales Hermosilla</cp:lastModifiedBy>
  <cp:revision>2</cp:revision>
  <dcterms:created xsi:type="dcterms:W3CDTF">2006-08-16T00:00:00Z</dcterms:created>
  <dcterms:modified xsi:type="dcterms:W3CDTF">2026-10-13T02:58:04Z</dcterms:modified>
  <dc:identifier>DAHX2Wd_EK8</dc:identifier>
</cp:coreProperties>
</file>